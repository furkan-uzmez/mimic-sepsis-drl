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2286000"/>
          </a:xfrm>
          <a:prstGeom prst="rect">
            <a:avLst/>
          </a:prstGeom>
          <a:solidFill>
            <a:srgbClr val="E53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46304" cy="2286000"/>
          </a:xfrm>
          <a:prstGeom prst="rect">
            <a:avLst/>
          </a:prstGeom>
          <a:solidFill>
            <a:srgbClr val="0B6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146304" cy="2286000"/>
          </a:xfrm>
          <a:prstGeom prst="rect">
            <a:avLst/>
          </a:prstGeom>
          <a:solidFill>
            <a:srgbClr val="D09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02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88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874519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5603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461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617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3035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893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6751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60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325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4183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1041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789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1615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91440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55448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219455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283463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347472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11479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475487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539495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603504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667512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9966960" y="-502920"/>
            <a:ext cx="2194560" cy="2194560"/>
          </a:xfrm>
          <a:prstGeom prst="ellipse">
            <a:avLst/>
          </a:prstGeom>
          <a:solidFill>
            <a:srgbClr val="0B6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32520" y="5166360"/>
            <a:ext cx="3017520" cy="3017520"/>
          </a:xfrm>
          <a:prstGeom prst="ellipse">
            <a:avLst/>
          </a:prstGeom>
          <a:solidFill>
            <a:srgbClr val="E53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438912"/>
            <a:ext cx="5577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1">
                <a:solidFill>
                  <a:srgbClr val="E5362E"/>
                </a:solidFill>
                <a:latin typeface="Aptos"/>
              </a:rPr>
              <a:t>AKADEMIK SAVUNMA DESTESI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960120"/>
            <a:ext cx="55778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>
                <a:solidFill>
                  <a:srgbClr val="11151C"/>
                </a:solidFill>
                <a:latin typeface="Aptos Display"/>
              </a:rPr>
              <a:t>Sepsis tedavisinde güvenli çevrimdışı IQL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2788920"/>
            <a:ext cx="5257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8606D"/>
                </a:solidFill>
                <a:latin typeface="Aptos"/>
              </a:rPr>
              <a:t>MIMIC-IV v3.1 kohortu uzerinde veri sızıntısı kapalı, destek duyarlı ve etik sınırları açık bir retrospektif politika değerlendirme protokolü.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46520" y="1097280"/>
            <a:ext cx="1965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92824" y="1207007"/>
            <a:ext cx="1673351" cy="432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1151C"/>
                </a:solidFill>
                <a:latin typeface="Aptos Display"/>
              </a:rPr>
              <a:t>72h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92824" y="1654149"/>
            <a:ext cx="1673351" cy="3360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1">
                <a:solidFill>
                  <a:srgbClr val="58606D"/>
                </a:solidFill>
                <a:latin typeface="Aptos"/>
              </a:rPr>
              <a:t>akut faz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86800" y="1097280"/>
            <a:ext cx="1965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33104" y="1207007"/>
            <a:ext cx="1673351" cy="432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1151C"/>
                </a:solidFill>
                <a:latin typeface="Aptos Display"/>
              </a:rPr>
              <a:t>4h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33104" y="1654149"/>
            <a:ext cx="1673351" cy="3360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1">
                <a:solidFill>
                  <a:srgbClr val="58606D"/>
                </a:solidFill>
                <a:latin typeface="Aptos"/>
              </a:rPr>
              <a:t>karar adımı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46520" y="2487168"/>
            <a:ext cx="1965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9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92824" y="2596896"/>
            <a:ext cx="1673351" cy="432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1151C"/>
                </a:solidFill>
                <a:latin typeface="Aptos Display"/>
              </a:rPr>
              <a:t>62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92824" y="3044037"/>
            <a:ext cx="1673351" cy="3360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1">
                <a:solidFill>
                  <a:srgbClr val="58606D"/>
                </a:solidFill>
                <a:latin typeface="Aptos"/>
              </a:rPr>
              <a:t>durum özelliği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86800" y="2487168"/>
            <a:ext cx="19659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33104" y="2596896"/>
            <a:ext cx="1673351" cy="432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1151C"/>
                </a:solidFill>
                <a:latin typeface="Aptos Display"/>
              </a:rPr>
              <a:t>25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33104" y="3044037"/>
            <a:ext cx="1673351" cy="3360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1">
                <a:solidFill>
                  <a:srgbClr val="58606D"/>
                </a:solidFill>
                <a:latin typeface="Aptos"/>
              </a:rPr>
              <a:t>ortak doz aksiyonu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46520" y="4160520"/>
            <a:ext cx="3154680" cy="329184"/>
          </a:xfrm>
          <a:prstGeom prst="roundRect">
            <a:avLst/>
          </a:prstGeom>
          <a:solidFill>
            <a:srgbClr val="0B6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56248" y="4233672"/>
            <a:ext cx="29352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FFFFFF"/>
                </a:solidFill>
                <a:latin typeface="Aptos"/>
              </a:rPr>
              <a:t>IQL + OPE + SUPPORT DIAGNOSTICS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4681728"/>
            <a:ext cx="4480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1">
                <a:solidFill>
                  <a:srgbClr val="1F2632"/>
                </a:solidFill>
                <a:latin typeface="Aptos"/>
              </a:rPr>
              <a:t>Final mesaj: model bir bedside öneri motoru değil; klinik RL iddialarını güvenlik sınırları içinde denetleyen bir kanıt hattıdır.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33888" y="6327648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8606D"/>
                </a:solidFill>
                <a:latin typeface="Aptos"/>
              </a:rPr>
              <a:t>01 / 16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928" y="6327648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8606D"/>
                </a:solidFill>
                <a:latin typeface="Aptos"/>
              </a:rPr>
              <a:t>MIMIC-Sepsis Offline IQL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2286000"/>
          </a:xfrm>
          <a:prstGeom prst="rect">
            <a:avLst/>
          </a:prstGeom>
          <a:solidFill>
            <a:srgbClr val="E53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46304" cy="2286000"/>
          </a:xfrm>
          <a:prstGeom prst="rect">
            <a:avLst/>
          </a:prstGeom>
          <a:solidFill>
            <a:srgbClr val="0B6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146304" cy="2286000"/>
          </a:xfrm>
          <a:prstGeom prst="rect">
            <a:avLst/>
          </a:prstGeom>
          <a:solidFill>
            <a:srgbClr val="D09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02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88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874519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5603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461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617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3035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893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6751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60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325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4183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1041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789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1615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91440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55448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219455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283463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347472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11479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475487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539495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603504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667512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9966960" y="-502920"/>
            <a:ext cx="2194560" cy="2194560"/>
          </a:xfrm>
          <a:prstGeom prst="ellipse">
            <a:avLst/>
          </a:prstGeom>
          <a:solidFill>
            <a:srgbClr val="0B6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32520" y="5166360"/>
            <a:ext cx="3017520" cy="3017520"/>
          </a:xfrm>
          <a:prstGeom prst="ellipse">
            <a:avLst/>
          </a:prstGeom>
          <a:solidFill>
            <a:srgbClr val="E53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438912"/>
            <a:ext cx="5577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1">
                <a:solidFill>
                  <a:srgbClr val="E5362E"/>
                </a:solidFill>
                <a:latin typeface="Aptos"/>
              </a:rPr>
              <a:t>KLINIK PROBLEM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868680"/>
            <a:ext cx="521208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11151C"/>
                </a:solidFill>
                <a:latin typeface="Aptos Display"/>
              </a:rPr>
              <a:t>Gözlemsel veri yüksek riskli bir ayna etkisi üretir.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2514600"/>
            <a:ext cx="493776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58606D"/>
                </a:solidFill>
                <a:latin typeface="Aptos"/>
              </a:rPr>
              <a:t>Sepsiste sıvı ve vazopresör titrasyonu dar terapötik aralıkta yapılır; aşırı veya yetersiz resüsitasyon doğrudan organ yetmezliği riskini değiştirir.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897880" y="914400"/>
            <a:ext cx="2423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62472" y="1060704"/>
            <a:ext cx="2057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20" b="1">
                <a:solidFill>
                  <a:srgbClr val="11151C"/>
                </a:solidFill>
                <a:latin typeface="Aptos Display"/>
              </a:rPr>
              <a:t>Endikasyon karıştırıcılığı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62472" y="1499616"/>
            <a:ext cx="20574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8606D"/>
                </a:solidFill>
                <a:latin typeface="Aptos"/>
              </a:rPr>
              <a:t>Ağır hastalar daha agresif tedavi alır; retrospektif korelasyon nedensellik gibi görünebilir.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41080" y="914400"/>
            <a:ext cx="2423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05672" y="1060704"/>
            <a:ext cx="2057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20" b="1">
                <a:solidFill>
                  <a:srgbClr val="11151C"/>
                </a:solidFill>
                <a:latin typeface="Aptos Display"/>
              </a:rPr>
              <a:t>Ekstrapolasyon hatası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05672" y="1499616"/>
            <a:ext cx="20574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8606D"/>
                </a:solidFill>
                <a:latin typeface="Aptos"/>
              </a:rPr>
              <a:t>Veride bulunmayan doz kombinasyonları bootstrapped Q-değerleriyle şişebilir.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897880" y="2788920"/>
            <a:ext cx="2423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9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62472" y="2935224"/>
            <a:ext cx="2057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20" b="1">
                <a:solidFill>
                  <a:srgbClr val="11151C"/>
                </a:solidFill>
                <a:latin typeface="Aptos Display"/>
              </a:rPr>
              <a:t>OPE varyansı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62472" y="3374136"/>
            <a:ext cx="20574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8606D"/>
                </a:solidFill>
                <a:latin typeface="Aptos"/>
              </a:rPr>
              <a:t>WIS hedef politika saptıkça birkaç yüksek ağırlıklı yörüngeye dayanabilir.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41080" y="2788920"/>
            <a:ext cx="2423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05672" y="2935224"/>
            <a:ext cx="2057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20" b="1">
                <a:solidFill>
                  <a:srgbClr val="11151C"/>
                </a:solidFill>
                <a:latin typeface="Aptos Display"/>
              </a:rPr>
              <a:t>Klinik sınır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05672" y="3374136"/>
            <a:ext cx="20574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8606D"/>
                </a:solidFill>
                <a:latin typeface="Aptos"/>
              </a:rPr>
              <a:t>Çıktı optimizasyon önerisi değil, güvenli retrospektif denetimdir.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33888" y="6327648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8606D"/>
                </a:solidFill>
                <a:latin typeface="Aptos"/>
              </a:rPr>
              <a:t>02 / 16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" y="6327648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8606D"/>
                </a:solidFill>
                <a:latin typeface="Aptos"/>
              </a:rPr>
              <a:t>MIMIC-Sepsis Offline IQL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2286000"/>
          </a:xfrm>
          <a:prstGeom prst="rect">
            <a:avLst/>
          </a:prstGeom>
          <a:solidFill>
            <a:srgbClr val="E53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46304" cy="2286000"/>
          </a:xfrm>
          <a:prstGeom prst="rect">
            <a:avLst/>
          </a:prstGeom>
          <a:solidFill>
            <a:srgbClr val="0B6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146304" cy="2286000"/>
          </a:xfrm>
          <a:prstGeom prst="rect">
            <a:avLst/>
          </a:prstGeom>
          <a:solidFill>
            <a:srgbClr val="D09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02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88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874519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5603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461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617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3035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893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6751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60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325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4183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1041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789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1615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91440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55448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219455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283463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347472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11479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475487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539495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603504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667512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9966960" y="-502920"/>
            <a:ext cx="2194560" cy="2194560"/>
          </a:xfrm>
          <a:prstGeom prst="ellipse">
            <a:avLst/>
          </a:prstGeom>
          <a:solidFill>
            <a:srgbClr val="0B6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32520" y="5166360"/>
            <a:ext cx="3017520" cy="3017520"/>
          </a:xfrm>
          <a:prstGeom prst="ellipse">
            <a:avLst/>
          </a:prstGeom>
          <a:solidFill>
            <a:srgbClr val="E53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438912"/>
            <a:ext cx="5577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1">
                <a:solidFill>
                  <a:srgbClr val="0B6670"/>
                </a:solidFill>
                <a:latin typeface="Aptos"/>
              </a:rPr>
              <a:t>KOHORT VE MDP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868680"/>
            <a:ext cx="5760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1151C"/>
                </a:solidFill>
                <a:latin typeface="Aptos Display"/>
              </a:rPr>
              <a:t>Karar birimi: 72 saatlik akut fazda 4 saatlik klinik pencere.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89320" y="868680"/>
            <a:ext cx="5212080" cy="4480560"/>
          </a:xfrm>
          <a:prstGeom prst="roundRect">
            <a:avLst/>
          </a:prstGeom>
          <a:solidFill>
            <a:srgbClr val="FFFAF2"/>
          </a:solidFill>
          <a:ln w="12700">
            <a:solidFill>
              <a:srgbClr val="0B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1243584"/>
            <a:ext cx="452628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11151C"/>
                </a:solidFill>
                <a:latin typeface="Aptos"/>
              </a:defRPr>
            </a:pPr>
            <a:r>
              <a:t>MIMIC-IV v3.1 içinden Sepsis-3 yetişkin yoğun bakım kohortu çıkarıldı.</a:t>
            </a:r>
          </a:p>
          <a:p>
            <a:pPr>
              <a:spcAft>
                <a:spcPts val="700"/>
              </a:spcAft>
              <a:defRPr sz="1220">
                <a:solidFill>
                  <a:srgbClr val="11151C"/>
                </a:solidFill>
                <a:latin typeface="Aptos"/>
              </a:defRPr>
            </a:pPr>
            <a:r>
              <a:t>Durum vektörü vital bulgular, laboratuvarlar, demografi, tedavi geçmişi ve missingness maskelerini kapsar.</a:t>
            </a:r>
          </a:p>
          <a:p>
            <a:pPr>
              <a:spcAft>
                <a:spcPts val="700"/>
              </a:spcAft>
              <a:defRPr sz="1220">
                <a:solidFill>
                  <a:srgbClr val="11151C"/>
                </a:solidFill>
                <a:latin typeface="Aptos"/>
              </a:defRPr>
            </a:pPr>
            <a:r>
              <a:t>Aksiyon uzayı IV sıvı ve vazopresör doz quartile'larının 5 x 5 ortak grididir.</a:t>
            </a:r>
          </a:p>
          <a:p>
            <a:pPr>
              <a:spcAft>
                <a:spcPts val="700"/>
              </a:spcAft>
              <a:defRPr sz="1220">
                <a:solidFill>
                  <a:srgbClr val="11151C"/>
                </a:solidFill>
                <a:latin typeface="Aptos"/>
              </a:defRPr>
            </a:pPr>
            <a:r>
              <a:t>Ödül terminal sağkalım sinyalini ve SOFA organ yetmezliği geçişlerini birlikte okuyabilir.</a:t>
            </a:r>
          </a:p>
          <a:p>
            <a:pPr>
              <a:spcAft>
                <a:spcPts val="700"/>
              </a:spcAft>
              <a:defRPr sz="1220">
                <a:solidFill>
                  <a:srgbClr val="11151C"/>
                </a:solidFill>
                <a:latin typeface="Aptos"/>
              </a:defRPr>
            </a:pPr>
            <a:r>
              <a:t>Preprocessing ve bin eşikleri yalnızca eğitim bölmesinde fit edilerek geleceğe bakış engellenir.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9808" y="3547872"/>
            <a:ext cx="135331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3657600"/>
            <a:ext cx="10607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1151C"/>
                </a:solidFill>
                <a:latin typeface="Aptos Display"/>
              </a:rPr>
              <a:t>18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" y="4078224"/>
            <a:ext cx="106070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1">
                <a:solidFill>
                  <a:srgbClr val="58606D"/>
                </a:solidFill>
                <a:latin typeface="Aptos"/>
              </a:rPr>
              <a:t>tipik karar adımı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395728" y="3547872"/>
            <a:ext cx="135331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42032" y="3657600"/>
            <a:ext cx="10607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1151C"/>
                </a:solidFill>
                <a:latin typeface="Aptos Display"/>
              </a:rPr>
              <a:t>5x5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42032" y="4078224"/>
            <a:ext cx="106070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1">
                <a:solidFill>
                  <a:srgbClr val="58606D"/>
                </a:solidFill>
                <a:latin typeface="Aptos"/>
              </a:rPr>
              <a:t>doz gridi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041648" y="3547872"/>
            <a:ext cx="135331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9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87952" y="3657600"/>
            <a:ext cx="106070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1151C"/>
                </a:solidFill>
                <a:latin typeface="Aptos Display"/>
              </a:rPr>
              <a:t>0.99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87952" y="4078224"/>
            <a:ext cx="106070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1">
                <a:solidFill>
                  <a:srgbClr val="58606D"/>
                </a:solidFill>
                <a:latin typeface="Aptos"/>
              </a:rPr>
              <a:t>iskonto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33888" y="6327648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8606D"/>
                </a:solidFill>
                <a:latin typeface="Aptos"/>
              </a:rPr>
              <a:t>03 / 16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6327648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8606D"/>
                </a:solidFill>
                <a:latin typeface="Aptos"/>
              </a:rPr>
              <a:t>MIMIC-Sepsis Offline IQL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2286000"/>
          </a:xfrm>
          <a:prstGeom prst="rect">
            <a:avLst/>
          </a:prstGeom>
          <a:solidFill>
            <a:srgbClr val="E53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46304" cy="2286000"/>
          </a:xfrm>
          <a:prstGeom prst="rect">
            <a:avLst/>
          </a:prstGeom>
          <a:solidFill>
            <a:srgbClr val="0B6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146304" cy="2286000"/>
          </a:xfrm>
          <a:prstGeom prst="rect">
            <a:avLst/>
          </a:prstGeom>
          <a:solidFill>
            <a:srgbClr val="D09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02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88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874519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5603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461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617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3035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893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6751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60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325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4183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1041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789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1615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91440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55448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219455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283463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347472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11479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475487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539495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603504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667512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9966960" y="-502920"/>
            <a:ext cx="2194560" cy="2194560"/>
          </a:xfrm>
          <a:prstGeom prst="ellipse">
            <a:avLst/>
          </a:prstGeom>
          <a:solidFill>
            <a:srgbClr val="0B6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32520" y="5166360"/>
            <a:ext cx="3017520" cy="3017520"/>
          </a:xfrm>
          <a:prstGeom prst="ellipse">
            <a:avLst/>
          </a:prstGeom>
          <a:solidFill>
            <a:srgbClr val="E53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438912"/>
            <a:ext cx="5577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1">
                <a:solidFill>
                  <a:srgbClr val="0B6670"/>
                </a:solidFill>
                <a:latin typeface="Aptos"/>
              </a:rPr>
              <a:t>SIZINTISIZ DENEY HATTI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868680"/>
            <a:ext cx="65836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1151C"/>
                </a:solidFill>
                <a:latin typeface="Aptos Display"/>
              </a:rPr>
              <a:t>Tek model değil, izlenebilir 10 adımlı protokol.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1828800"/>
            <a:ext cx="1874519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1938528"/>
            <a:ext cx="594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5362E"/>
                </a:solidFill>
                <a:latin typeface="Aptos Display"/>
              </a:rPr>
              <a:t>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2313432"/>
            <a:ext cx="1481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11151C"/>
                </a:solidFill>
                <a:latin typeface="Aptos"/>
              </a:rPr>
              <a:t>Kohort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926080" y="1828800"/>
            <a:ext cx="1874519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63240" y="1938528"/>
            <a:ext cx="594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6670"/>
                </a:solidFill>
                <a:latin typeface="Aptos Display"/>
              </a:rPr>
              <a:t>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63240" y="2313432"/>
            <a:ext cx="1481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11151C"/>
                </a:solidFill>
                <a:latin typeface="Aptos"/>
              </a:rPr>
              <a:t>72h pencereler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66360" y="1828800"/>
            <a:ext cx="1874519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9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03520" y="1938528"/>
            <a:ext cx="594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D09B2C"/>
                </a:solidFill>
                <a:latin typeface="Aptos Display"/>
              </a:rPr>
              <a:t>03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0" y="2313432"/>
            <a:ext cx="1481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11151C"/>
                </a:solidFill>
                <a:latin typeface="Aptos"/>
              </a:rPr>
              <a:t>Hasta split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06640" y="1828800"/>
            <a:ext cx="1874519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43800" y="1938528"/>
            <a:ext cx="594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6670"/>
                </a:solidFill>
                <a:latin typeface="Aptos Display"/>
              </a:rPr>
              <a:t>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43800" y="2313432"/>
            <a:ext cx="1481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11151C"/>
                </a:solidFill>
                <a:latin typeface="Aptos"/>
              </a:rPr>
              <a:t>Train-only scaling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46920" y="1828800"/>
            <a:ext cx="1874519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84080" y="1938528"/>
            <a:ext cx="594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5362E"/>
                </a:solidFill>
                <a:latin typeface="Aptos Display"/>
              </a:rPr>
              <a:t>05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84080" y="2313432"/>
            <a:ext cx="1481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11151C"/>
                </a:solidFill>
                <a:latin typeface="Aptos"/>
              </a:rPr>
              <a:t>Aksiyon binleri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85800" y="3429000"/>
            <a:ext cx="1874519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3538728"/>
            <a:ext cx="594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5362E"/>
                </a:solidFill>
                <a:latin typeface="Aptos Display"/>
              </a:rPr>
              <a:t>06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" y="3913632"/>
            <a:ext cx="1481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11151C"/>
                </a:solidFill>
                <a:latin typeface="Aptos"/>
              </a:rPr>
              <a:t>Replay set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926080" y="3429000"/>
            <a:ext cx="1874519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063240" y="3538728"/>
            <a:ext cx="594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6670"/>
                </a:solidFill>
                <a:latin typeface="Aptos Display"/>
              </a:rPr>
              <a:t>07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63240" y="3913632"/>
            <a:ext cx="1481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11151C"/>
                </a:solidFill>
                <a:latin typeface="Aptos"/>
              </a:rPr>
              <a:t>IQL eğitim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166360" y="3429000"/>
            <a:ext cx="1874519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9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303520" y="3538728"/>
            <a:ext cx="594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D09B2C"/>
                </a:solidFill>
                <a:latin typeface="Aptos Display"/>
              </a:rPr>
              <a:t>08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03520" y="3913632"/>
            <a:ext cx="1481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11151C"/>
                </a:solidFill>
                <a:latin typeface="Aptos"/>
              </a:rPr>
              <a:t>18 aday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406640" y="3429000"/>
            <a:ext cx="1874519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543800" y="3538728"/>
            <a:ext cx="594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6670"/>
                </a:solidFill>
                <a:latin typeface="Aptos Display"/>
              </a:rPr>
              <a:t>09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43800" y="3913632"/>
            <a:ext cx="1481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11151C"/>
                </a:solidFill>
                <a:latin typeface="Aptos"/>
              </a:rPr>
              <a:t>OPE teşhis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646920" y="3429000"/>
            <a:ext cx="1874519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84080" y="3538728"/>
            <a:ext cx="594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5362E"/>
                </a:solidFill>
                <a:latin typeface="Aptos Display"/>
              </a:rPr>
              <a:t>10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84080" y="3913632"/>
            <a:ext cx="14813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1">
                <a:solidFill>
                  <a:srgbClr val="11151C"/>
                </a:solidFill>
                <a:latin typeface="Aptos"/>
              </a:rPr>
              <a:t>3 seed final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9808" y="5285232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5362E"/>
                </a:solidFill>
                <a:latin typeface="Aptos"/>
              </a:rPr>
              <a:t>Kontrol ilkesi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74519" y="5230368"/>
            <a:ext cx="79552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8606D"/>
                </a:solidFill>
                <a:latin typeface="Aptos"/>
              </a:rPr>
              <a:t>Aynı hastanın farklı zaman pencereleri train/test arasında paylaşılmaz; validasyon ve test hiçbir ön işleme parametresini tekrar fit etmez.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33888" y="6327648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8606D"/>
                </a:solidFill>
                <a:latin typeface="Aptos"/>
              </a:rPr>
              <a:t>04 / 16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6928" y="6327648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8606D"/>
                </a:solidFill>
                <a:latin typeface="Aptos"/>
              </a:rPr>
              <a:t>MIMIC-Sepsis Offline IQL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2286000"/>
          </a:xfrm>
          <a:prstGeom prst="rect">
            <a:avLst/>
          </a:prstGeom>
          <a:solidFill>
            <a:srgbClr val="E53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46304" cy="2286000"/>
          </a:xfrm>
          <a:prstGeom prst="rect">
            <a:avLst/>
          </a:prstGeom>
          <a:solidFill>
            <a:srgbClr val="0B6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146304" cy="2286000"/>
          </a:xfrm>
          <a:prstGeom prst="rect">
            <a:avLst/>
          </a:prstGeom>
          <a:solidFill>
            <a:srgbClr val="D09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02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88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874519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5603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461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617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3035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893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6751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60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325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4183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1041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789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1615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91440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55448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219455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283463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347472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11479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475487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539495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603504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667512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9966960" y="-502920"/>
            <a:ext cx="2194560" cy="2194560"/>
          </a:xfrm>
          <a:prstGeom prst="ellipse">
            <a:avLst/>
          </a:prstGeom>
          <a:solidFill>
            <a:srgbClr val="0B6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32520" y="5166360"/>
            <a:ext cx="3017520" cy="3017520"/>
          </a:xfrm>
          <a:prstGeom prst="ellipse">
            <a:avLst/>
          </a:prstGeom>
          <a:solidFill>
            <a:srgbClr val="E53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438912"/>
            <a:ext cx="5577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1">
                <a:solidFill>
                  <a:srgbClr val="E5362E"/>
                </a:solidFill>
                <a:latin typeface="Aptos"/>
              </a:rPr>
              <a:t>ALGORITMIK SEÇIM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868680"/>
            <a:ext cx="53492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1151C"/>
                </a:solidFill>
                <a:latin typeface="Aptos Display"/>
              </a:rPr>
              <a:t>IQL, görülmeyen aksiyonları maksimize etmeden değer öğrenir.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2606040"/>
            <a:ext cx="493776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58606D"/>
                </a:solidFill>
                <a:latin typeface="Aptos"/>
              </a:rPr>
              <a:t>CQL aşırı ceza ile nadir fakat hayat kurtarıcı rescue therapy örneklerini bastırabilir; IQL destek dışına çıkmayı reddeden daha uygun bir klinik takas sunar.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897880" y="960120"/>
            <a:ext cx="5029200" cy="1115568"/>
          </a:xfrm>
          <a:prstGeom prst="roundRect">
            <a:avLst/>
          </a:prstGeom>
          <a:solidFill>
            <a:srgbClr val="1F2632"/>
          </a:solidFill>
          <a:ln w="12700">
            <a:solidFill>
              <a:srgbClr val="E5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44768" y="1298448"/>
            <a:ext cx="4526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L2^tau(u) = |tau - 1(u &lt; 0)| u^2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89320" y="2944368"/>
            <a:ext cx="14173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80" y="3136392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40" b="1">
                <a:solidFill>
                  <a:srgbClr val="11151C"/>
                </a:solidFill>
                <a:latin typeface="Aptos Display"/>
              </a:rPr>
              <a:t>Expectile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3547872"/>
            <a:ext cx="10972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80" b="0">
                <a:solidFill>
                  <a:srgbClr val="58606D"/>
                </a:solidFill>
                <a:latin typeface="Aptos"/>
              </a:rPr>
              <a:t>Başarılı veri içi kararların üst sınırını hedefler.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653527" y="2944368"/>
            <a:ext cx="14173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90688" y="3136392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40" b="1">
                <a:solidFill>
                  <a:srgbClr val="11151C"/>
                </a:solidFill>
                <a:latin typeface="Aptos Display"/>
              </a:rPr>
              <a:t>Double critics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90688" y="3547872"/>
            <a:ext cx="10972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80" b="0">
                <a:solidFill>
                  <a:srgbClr val="58606D"/>
                </a:solidFill>
                <a:latin typeface="Aptos"/>
              </a:rPr>
              <a:t>Bootstrap önyargısını çift eleştirmenle sınırlar.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317736" y="2944368"/>
            <a:ext cx="14173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9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54896" y="3136392"/>
            <a:ext cx="1097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40" b="1">
                <a:solidFill>
                  <a:srgbClr val="11151C"/>
                </a:solidFill>
                <a:latin typeface="Aptos Display"/>
              </a:rPr>
              <a:t>Temperature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54896" y="3547872"/>
            <a:ext cx="10972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80" b="0">
                <a:solidFill>
                  <a:srgbClr val="58606D"/>
                </a:solidFill>
                <a:latin typeface="Aptos"/>
              </a:rPr>
              <a:t>Aktörün klinisyenden radikal sapmasını kontrol eder.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33888" y="6327648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8606D"/>
                </a:solidFill>
                <a:latin typeface="Aptos"/>
              </a:rPr>
              <a:t>05 / 16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" y="6327648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8606D"/>
                </a:solidFill>
                <a:latin typeface="Aptos"/>
              </a:rPr>
              <a:t>MIMIC-Sepsis Offline IQL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2286000"/>
          </a:xfrm>
          <a:prstGeom prst="rect">
            <a:avLst/>
          </a:prstGeom>
          <a:solidFill>
            <a:srgbClr val="E53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46304" cy="2286000"/>
          </a:xfrm>
          <a:prstGeom prst="rect">
            <a:avLst/>
          </a:prstGeom>
          <a:solidFill>
            <a:srgbClr val="0B6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146304" cy="2286000"/>
          </a:xfrm>
          <a:prstGeom prst="rect">
            <a:avLst/>
          </a:prstGeom>
          <a:solidFill>
            <a:srgbClr val="D09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02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88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874519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5603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461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617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3035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893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6751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60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325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4183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1041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789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1615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91440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55448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219455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283463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347472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11479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475487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539495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603504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667512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9966960" y="-502920"/>
            <a:ext cx="2194560" cy="2194560"/>
          </a:xfrm>
          <a:prstGeom prst="ellipse">
            <a:avLst/>
          </a:prstGeom>
          <a:solidFill>
            <a:srgbClr val="0B6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32520" y="5166360"/>
            <a:ext cx="3017520" cy="3017520"/>
          </a:xfrm>
          <a:prstGeom prst="ellipse">
            <a:avLst/>
          </a:prstGeom>
          <a:solidFill>
            <a:srgbClr val="E53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438912"/>
            <a:ext cx="5577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1">
                <a:solidFill>
                  <a:srgbClr val="D09B2C"/>
                </a:solidFill>
                <a:latin typeface="Aptos"/>
              </a:rPr>
              <a:t>TARAMA TASARIMI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868680"/>
            <a:ext cx="58521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1151C"/>
                </a:solidFill>
                <a:latin typeface="Aptos Display"/>
              </a:rPr>
              <a:t>18 adaydan 6 finalist: seçim tek metrikle yapılmadı.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680" y="2148840"/>
            <a:ext cx="3154680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69848" y="2395728"/>
            <a:ext cx="2651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E5362E"/>
                </a:solidFill>
                <a:latin typeface="Aptos"/>
              </a:rPr>
              <a:t>AŞAMA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9848" y="2788920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151C"/>
                </a:solidFill>
                <a:latin typeface="Aptos Display"/>
              </a:rPr>
              <a:t>18 aday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9848" y="3456432"/>
            <a:ext cx="2670048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0">
                <a:solidFill>
                  <a:srgbClr val="58606D"/>
                </a:solidFill>
                <a:latin typeface="Aptos"/>
              </a:rPr>
              <a:t>Ödül tipi, LR rejimi, ekspektil ve aktör sıcaklığı sistematik tarandı.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0" y="2148840"/>
            <a:ext cx="3154680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73168" y="2395728"/>
            <a:ext cx="2651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0B6670"/>
                </a:solidFill>
                <a:latin typeface="Aptos"/>
              </a:rPr>
              <a:t>AŞAMA 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73168" y="2788920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151C"/>
                </a:solidFill>
                <a:latin typeface="Aptos Display"/>
              </a:rPr>
              <a:t>6 finalist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73168" y="3456432"/>
            <a:ext cx="2670048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0">
                <a:solidFill>
                  <a:srgbClr val="58606D"/>
                </a:solidFill>
                <a:latin typeface="Aptos"/>
              </a:rPr>
              <a:t>Yüksek değer ile davranış desteği birlikte korunacak şekilde havuz daraltıldı.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75319" y="2148840"/>
            <a:ext cx="3154680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9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76488" y="2395728"/>
            <a:ext cx="2651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1">
                <a:solidFill>
                  <a:srgbClr val="D09B2C"/>
                </a:solidFill>
                <a:latin typeface="Aptos"/>
              </a:rPr>
              <a:t>FINAL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76488" y="2788920"/>
            <a:ext cx="2651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1151C"/>
                </a:solidFill>
                <a:latin typeface="Aptos Display"/>
              </a:rPr>
              <a:t>3 seed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76488" y="3456432"/>
            <a:ext cx="2670048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70" b="0">
                <a:solidFill>
                  <a:srgbClr val="58606D"/>
                </a:solidFill>
                <a:latin typeface="Aptos"/>
              </a:rPr>
              <a:t>Yakınsama gürültüsünü ayırmak için en iyi adaylar bağımsız tohumlarla tekrarlandı.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5074920"/>
            <a:ext cx="5394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1151C"/>
                </a:solidFill>
                <a:latin typeface="Aptos Display"/>
              </a:rPr>
              <a:t>Nihai aday: iql_sofa_shaped_conservative_safe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" y="5504688"/>
            <a:ext cx="7680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8606D"/>
                </a:solidFill>
                <a:latin typeface="Aptos"/>
              </a:rPr>
              <a:t>Seçim kriteri FQE/WIS değerini ESS, support mass, low-support action rate ve klinisyen uyumuyla birlikte tartar.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33888" y="6327648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8606D"/>
                </a:solidFill>
                <a:latin typeface="Aptos"/>
              </a:rPr>
              <a:t>06 / 16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" y="6327648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8606D"/>
                </a:solidFill>
                <a:latin typeface="Aptos"/>
              </a:rPr>
              <a:t>MIMIC-Sepsis Offline IQL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2286000"/>
          </a:xfrm>
          <a:prstGeom prst="rect">
            <a:avLst/>
          </a:prstGeom>
          <a:solidFill>
            <a:srgbClr val="E53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46304" cy="2286000"/>
          </a:xfrm>
          <a:prstGeom prst="rect">
            <a:avLst/>
          </a:prstGeom>
          <a:solidFill>
            <a:srgbClr val="0B6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146304" cy="2286000"/>
          </a:xfrm>
          <a:prstGeom prst="rect">
            <a:avLst/>
          </a:prstGeom>
          <a:solidFill>
            <a:srgbClr val="D09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02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88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874519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5603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461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617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3035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893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6751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60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325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4183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1041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789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1615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91440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55448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219455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283463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347472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11479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475487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539495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603504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667512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9966960" y="-502920"/>
            <a:ext cx="2194560" cy="2194560"/>
          </a:xfrm>
          <a:prstGeom prst="ellipse">
            <a:avLst/>
          </a:prstGeom>
          <a:solidFill>
            <a:srgbClr val="0B6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32520" y="5166360"/>
            <a:ext cx="3017520" cy="3017520"/>
          </a:xfrm>
          <a:prstGeom prst="ellipse">
            <a:avLst/>
          </a:prstGeom>
          <a:solidFill>
            <a:srgbClr val="E53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438912"/>
            <a:ext cx="5577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1">
                <a:solidFill>
                  <a:srgbClr val="0B6670"/>
                </a:solidFill>
                <a:latin typeface="Aptos"/>
              </a:rPr>
              <a:t>DAVRANIŞ DESTEĞI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841248"/>
            <a:ext cx="4343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1151C"/>
                </a:solidFill>
                <a:latin typeface="Aptos Display"/>
              </a:rPr>
              <a:t>Yüksek FQE ancak destekle anlamlıdır.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2670048"/>
            <a:ext cx="41605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40" b="0">
                <a:solidFill>
                  <a:srgbClr val="58606D"/>
                </a:solidFill>
                <a:latin typeface="Aptos"/>
              </a:rPr>
              <a:t>FQE vs support grafiği, düşük destekle şişen değer tahminlerini erken aşamada dışarıda bırakmak için kullanıldı.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74920" y="658368"/>
            <a:ext cx="653796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fqe_vs_sup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2936" y="804672"/>
            <a:ext cx="6281928" cy="463600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230368" y="5833872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1">
                <a:solidFill>
                  <a:srgbClr val="58606D"/>
                </a:solidFill>
                <a:latin typeface="Aptos"/>
              </a:rPr>
              <a:t>Aşama 2 adayları: değer ve support mass birlikte okunur.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33888" y="6327648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8606D"/>
                </a:solidFill>
                <a:latin typeface="Aptos"/>
              </a:rPr>
              <a:t>07 / 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6327648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8606D"/>
                </a:solidFill>
                <a:latin typeface="Aptos"/>
              </a:rPr>
              <a:t>MIMIC-Sepsis Offline IQL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2286000"/>
          </a:xfrm>
          <a:prstGeom prst="rect">
            <a:avLst/>
          </a:prstGeom>
          <a:solidFill>
            <a:srgbClr val="E53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46304" cy="2286000"/>
          </a:xfrm>
          <a:prstGeom prst="rect">
            <a:avLst/>
          </a:prstGeom>
          <a:solidFill>
            <a:srgbClr val="0B6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146304" cy="2286000"/>
          </a:xfrm>
          <a:prstGeom prst="rect">
            <a:avLst/>
          </a:prstGeom>
          <a:solidFill>
            <a:srgbClr val="D09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02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88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874519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5603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461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617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3035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893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6751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60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325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4183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1041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789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1615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91440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55448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219455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283463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347472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11479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475487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539495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603504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667512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9966960" y="-502920"/>
            <a:ext cx="2194560" cy="2194560"/>
          </a:xfrm>
          <a:prstGeom prst="ellipse">
            <a:avLst/>
          </a:prstGeom>
          <a:solidFill>
            <a:srgbClr val="0B6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32520" y="5166360"/>
            <a:ext cx="3017520" cy="3017520"/>
          </a:xfrm>
          <a:prstGeom prst="ellipse">
            <a:avLst/>
          </a:prstGeom>
          <a:solidFill>
            <a:srgbClr val="E53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438912"/>
            <a:ext cx="5577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1">
                <a:solidFill>
                  <a:srgbClr val="E5362E"/>
                </a:solidFill>
                <a:latin typeface="Aptos"/>
              </a:rPr>
              <a:t>PARETO FINAL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841248"/>
            <a:ext cx="4343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1151C"/>
                </a:solidFill>
                <a:latin typeface="Aptos Display"/>
              </a:rPr>
              <a:t>Final seçim değer-risk ödünleşiminden gelir.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2670048"/>
            <a:ext cx="41605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40" b="0">
                <a:solidFill>
                  <a:srgbClr val="58606D"/>
                </a:solidFill>
                <a:latin typeface="Aptos"/>
              </a:rPr>
              <a:t>Pareto görünümü final adayın FQE-style skorunu yükseltirken düşük destekli aksiyon oranını yaklaşık %0.9 bandında tuttuğunu gösterir.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74920" y="658368"/>
            <a:ext cx="653796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pareto_front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2936" y="804672"/>
            <a:ext cx="6281928" cy="463600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230368" y="5833872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1">
                <a:solidFill>
                  <a:srgbClr val="58606D"/>
                </a:solidFill>
                <a:latin typeface="Aptos"/>
              </a:rPr>
              <a:t>Run #46/e200, güvenlik ve değer eksenlerinde Pareto sınırında konumlanır.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33888" y="6327648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8606D"/>
                </a:solidFill>
                <a:latin typeface="Aptos"/>
              </a:rPr>
              <a:t>08 / 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6327648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8606D"/>
                </a:solidFill>
                <a:latin typeface="Aptos"/>
              </a:rPr>
              <a:t>MIMIC-Sepsis Offline IQL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2286000"/>
          </a:xfrm>
          <a:prstGeom prst="rect">
            <a:avLst/>
          </a:prstGeom>
          <a:solidFill>
            <a:srgbClr val="E53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46304" cy="2286000"/>
          </a:xfrm>
          <a:prstGeom prst="rect">
            <a:avLst/>
          </a:prstGeom>
          <a:solidFill>
            <a:srgbClr val="0B6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146304" cy="2286000"/>
          </a:xfrm>
          <a:prstGeom prst="rect">
            <a:avLst/>
          </a:prstGeom>
          <a:solidFill>
            <a:srgbClr val="D09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02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88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874519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5603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461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617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3035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893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6751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60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325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4183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1041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789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1615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91440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55448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219455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283463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347472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11479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475487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539495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603504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667512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9966960" y="-502920"/>
            <a:ext cx="2194560" cy="2194560"/>
          </a:xfrm>
          <a:prstGeom prst="ellipse">
            <a:avLst/>
          </a:prstGeom>
          <a:solidFill>
            <a:srgbClr val="0B6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32520" y="5166360"/>
            <a:ext cx="3017520" cy="3017520"/>
          </a:xfrm>
          <a:prstGeom prst="ellipse">
            <a:avLst/>
          </a:prstGeom>
          <a:solidFill>
            <a:srgbClr val="E53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438912"/>
            <a:ext cx="5577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1">
                <a:solidFill>
                  <a:srgbClr val="E5362E"/>
                </a:solidFill>
                <a:latin typeface="Aptos"/>
              </a:rPr>
              <a:t>NIHAI TEST KARNESI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868680"/>
            <a:ext cx="49377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1151C"/>
                </a:solidFill>
                <a:latin typeface="Aptos Display"/>
              </a:rPr>
              <a:t>Sonuçlar umut verici; klinik üstünlük kanıtı değil.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2560320"/>
            <a:ext cx="457200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58606D"/>
                </a:solidFill>
                <a:latin typeface="Aptos"/>
              </a:rPr>
              <a:t>ESS eşiğin altında kaldığı için raporlama prospektif performans iddiası yerine sınırlı ama denetlenebilir OPE kanıtı olarak kurulmalıdır.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0" y="868680"/>
            <a:ext cx="2212848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15584" y="978407"/>
            <a:ext cx="1920240" cy="4197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1151C"/>
                </a:solidFill>
                <a:latin typeface="Aptos Display"/>
              </a:rPr>
              <a:t>2.848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15584" y="1409639"/>
            <a:ext cx="1920240" cy="326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1">
                <a:solidFill>
                  <a:srgbClr val="58606D"/>
                </a:solidFill>
                <a:latin typeface="Aptos"/>
              </a:rPr>
              <a:t>FQE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83879" y="868680"/>
            <a:ext cx="2212848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30183" y="978407"/>
            <a:ext cx="1920240" cy="4197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1151C"/>
                </a:solidFill>
                <a:latin typeface="Aptos Display"/>
              </a:rPr>
              <a:t>8.203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30183" y="1409639"/>
            <a:ext cx="1920240" cy="326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1">
                <a:solidFill>
                  <a:srgbClr val="58606D"/>
                </a:solidFill>
                <a:latin typeface="Aptos"/>
              </a:rPr>
              <a:t>WIS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0" y="2221991"/>
            <a:ext cx="2212848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9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15584" y="2331720"/>
            <a:ext cx="1920240" cy="4197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1151C"/>
                </a:solidFill>
                <a:latin typeface="Aptos Display"/>
              </a:rPr>
              <a:t>29.41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15584" y="2762951"/>
            <a:ext cx="1920240" cy="326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1">
                <a:solidFill>
                  <a:srgbClr val="58606D"/>
                </a:solidFill>
                <a:latin typeface="Aptos"/>
              </a:rPr>
              <a:t>ESS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83879" y="2221991"/>
            <a:ext cx="2212848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0183" y="2331720"/>
            <a:ext cx="1920240" cy="4197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1151C"/>
                </a:solidFill>
                <a:latin typeface="Aptos Display"/>
              </a:rPr>
              <a:t>0.991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30183" y="2762951"/>
            <a:ext cx="1920240" cy="326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1">
                <a:solidFill>
                  <a:srgbClr val="58606D"/>
                </a:solidFill>
                <a:latin typeface="Aptos"/>
              </a:rPr>
              <a:t>davranış desteği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669280" y="3575304"/>
            <a:ext cx="2212848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15584" y="3685032"/>
            <a:ext cx="1920240" cy="4197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1151C"/>
                </a:solidFill>
                <a:latin typeface="Aptos Display"/>
              </a:rPr>
              <a:t>41.4%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15584" y="4116263"/>
            <a:ext cx="1920240" cy="326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1">
                <a:solidFill>
                  <a:srgbClr val="58606D"/>
                </a:solidFill>
                <a:latin typeface="Aptos"/>
              </a:rPr>
              <a:t>klinisyen uyumu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183879" y="3575304"/>
            <a:ext cx="2212848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9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30183" y="3685032"/>
            <a:ext cx="1920240" cy="4197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1151C"/>
                </a:solidFill>
                <a:latin typeface="Aptos Display"/>
              </a:rPr>
              <a:t>4.963-10.817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30183" y="4116263"/>
            <a:ext cx="1920240" cy="326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1">
                <a:solidFill>
                  <a:srgbClr val="58606D"/>
                </a:solidFill>
                <a:latin typeface="Aptos"/>
              </a:rPr>
              <a:t>WIS %95 CI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58368" y="4279392"/>
            <a:ext cx="1508760" cy="329184"/>
          </a:xfrm>
          <a:prstGeom prst="roundRect">
            <a:avLst/>
          </a:prstGeom>
          <a:solidFill>
            <a:srgbClr val="E53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8096" y="4352544"/>
            <a:ext cx="128930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1">
                <a:solidFill>
                  <a:srgbClr val="FFFFFF"/>
                </a:solidFill>
                <a:latin typeface="Aptos"/>
              </a:rPr>
              <a:t>DÜRÜST SINIRLAMA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4773168"/>
            <a:ext cx="4526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1151C"/>
                </a:solidFill>
                <a:latin typeface="Aptos"/>
              </a:rPr>
              <a:t>ESS=29.41 değeri 50 güvenlik eşiğinin altında; bu nedenle belirsizlik ve bootstrap CI sunumun merkezi argümanlarından biridir.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33888" y="6327648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8606D"/>
                </a:solidFill>
                <a:latin typeface="Aptos"/>
              </a:rPr>
              <a:t>09 / 16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6928" y="6327648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8606D"/>
                </a:solidFill>
                <a:latin typeface="Aptos"/>
              </a:rPr>
              <a:t>MIMIC-Sepsis Offline IQL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2286000"/>
          </a:xfrm>
          <a:prstGeom prst="rect">
            <a:avLst/>
          </a:prstGeom>
          <a:solidFill>
            <a:srgbClr val="E53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46304" cy="2286000"/>
          </a:xfrm>
          <a:prstGeom prst="rect">
            <a:avLst/>
          </a:prstGeom>
          <a:solidFill>
            <a:srgbClr val="0B6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146304" cy="2286000"/>
          </a:xfrm>
          <a:prstGeom prst="rect">
            <a:avLst/>
          </a:prstGeom>
          <a:solidFill>
            <a:srgbClr val="D09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02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88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874519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5603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461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617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3035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893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6751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60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325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4183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1041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789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1615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91440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55448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219455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283463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347472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11479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475487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539495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603504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667512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9966960" y="-502920"/>
            <a:ext cx="2194560" cy="2194560"/>
          </a:xfrm>
          <a:prstGeom prst="ellipse">
            <a:avLst/>
          </a:prstGeom>
          <a:solidFill>
            <a:srgbClr val="0B6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32520" y="5166360"/>
            <a:ext cx="3017520" cy="3017520"/>
          </a:xfrm>
          <a:prstGeom prst="ellipse">
            <a:avLst/>
          </a:prstGeom>
          <a:solidFill>
            <a:srgbClr val="E53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438912"/>
            <a:ext cx="5577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1">
                <a:solidFill>
                  <a:srgbClr val="D09B2C"/>
                </a:solidFill>
                <a:latin typeface="Aptos"/>
              </a:rPr>
              <a:t>BASELINE KONTROL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841248"/>
            <a:ext cx="4343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1151C"/>
                </a:solidFill>
                <a:latin typeface="Aptos Display"/>
              </a:rPr>
              <a:t>Yüksek WIS, düşük ESS ile sahte güven üretir.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2670048"/>
            <a:ext cx="41605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40" b="0">
                <a:solidFill>
                  <a:srgbClr val="58606D"/>
                </a:solidFill>
                <a:latin typeface="Aptos"/>
              </a:rPr>
              <a:t>Behavior Cloning güçlü görünür fakat ESS=1.6 düzeyi bu tahminin birkaç uç yörüngeye dayandığını gösterir. Seçili IQL daha dengeli bir varyans profili sunar.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74920" y="658368"/>
            <a:ext cx="653796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baselin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2936" y="804672"/>
            <a:ext cx="6281928" cy="463600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230368" y="5833872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1">
                <a:solidFill>
                  <a:srgbClr val="58606D"/>
                </a:solidFill>
                <a:latin typeface="Aptos"/>
              </a:rPr>
              <a:t>Referans politikalar WIS ve ESS eksenlerinde birlikte karşılaştırılır.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33888" y="6327648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8606D"/>
                </a:solidFill>
                <a:latin typeface="Aptos"/>
              </a:rPr>
              <a:t>10 / 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6327648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8606D"/>
                </a:solidFill>
                <a:latin typeface="Aptos"/>
              </a:rPr>
              <a:t>MIMIC-Sepsis Offline IQL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2286000"/>
          </a:xfrm>
          <a:prstGeom prst="rect">
            <a:avLst/>
          </a:prstGeom>
          <a:solidFill>
            <a:srgbClr val="E53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46304" cy="2286000"/>
          </a:xfrm>
          <a:prstGeom prst="rect">
            <a:avLst/>
          </a:prstGeom>
          <a:solidFill>
            <a:srgbClr val="0B6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146304" cy="2286000"/>
          </a:xfrm>
          <a:prstGeom prst="rect">
            <a:avLst/>
          </a:prstGeom>
          <a:solidFill>
            <a:srgbClr val="D09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02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88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874519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5603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461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617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3035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893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6751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60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325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4183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1041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789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1615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91440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55448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219455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283463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347472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11479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475487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539495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603504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667512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9966960" y="-502920"/>
            <a:ext cx="2194560" cy="2194560"/>
          </a:xfrm>
          <a:prstGeom prst="ellipse">
            <a:avLst/>
          </a:prstGeom>
          <a:solidFill>
            <a:srgbClr val="0B6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32520" y="5166360"/>
            <a:ext cx="3017520" cy="3017520"/>
          </a:xfrm>
          <a:prstGeom prst="ellipse">
            <a:avLst/>
          </a:prstGeom>
          <a:solidFill>
            <a:srgbClr val="E53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438912"/>
            <a:ext cx="5577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1">
                <a:solidFill>
                  <a:srgbClr val="E5362E"/>
                </a:solidFill>
                <a:latin typeface="Aptos"/>
              </a:rPr>
              <a:t>BOOTSTRAP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841248"/>
            <a:ext cx="4343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1151C"/>
                </a:solidFill>
                <a:latin typeface="Aptos Display"/>
              </a:rPr>
              <a:t>Geniş aralık metodolojik temkini zorunlu kılar.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2670048"/>
            <a:ext cx="41605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40" b="0">
                <a:solidFill>
                  <a:srgbClr val="58606D"/>
                </a:solidFill>
                <a:latin typeface="Aptos"/>
              </a:rPr>
              <a:t>Bootstrap güven aralığı düşük ESS kaynaklı belirsizliği gizlemek yerine görünür kılar; akademik savunmada ana güvenlik bariyeridir.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74920" y="658368"/>
            <a:ext cx="653796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bootstrap_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2936" y="804672"/>
            <a:ext cx="6281928" cy="463600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230368" y="5833872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1">
                <a:solidFill>
                  <a:srgbClr val="58606D"/>
                </a:solidFill>
                <a:latin typeface="Aptos"/>
              </a:rPr>
              <a:t>WIS belirsizliği sonuçların prospektif iddia olarak okunmasını engeller.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33888" y="6327648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8606D"/>
                </a:solidFill>
                <a:latin typeface="Aptos"/>
              </a:rPr>
              <a:t>11 / 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6327648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8606D"/>
                </a:solidFill>
                <a:latin typeface="Aptos"/>
              </a:rPr>
              <a:t>MIMIC-Sepsis Offline IQL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2286000"/>
          </a:xfrm>
          <a:prstGeom prst="rect">
            <a:avLst/>
          </a:prstGeom>
          <a:solidFill>
            <a:srgbClr val="E53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46304" cy="2286000"/>
          </a:xfrm>
          <a:prstGeom prst="rect">
            <a:avLst/>
          </a:prstGeom>
          <a:solidFill>
            <a:srgbClr val="0B6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146304" cy="2286000"/>
          </a:xfrm>
          <a:prstGeom prst="rect">
            <a:avLst/>
          </a:prstGeom>
          <a:solidFill>
            <a:srgbClr val="D09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02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88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874519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5603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461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617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3035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893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6751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60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325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4183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1041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789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1615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91440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55448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219455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283463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347472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11479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475487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539495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603504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667512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9966960" y="-502920"/>
            <a:ext cx="2194560" cy="2194560"/>
          </a:xfrm>
          <a:prstGeom prst="ellipse">
            <a:avLst/>
          </a:prstGeom>
          <a:solidFill>
            <a:srgbClr val="0B6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32520" y="5166360"/>
            <a:ext cx="3017520" cy="3017520"/>
          </a:xfrm>
          <a:prstGeom prst="ellipse">
            <a:avLst/>
          </a:prstGeom>
          <a:solidFill>
            <a:srgbClr val="E53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438912"/>
            <a:ext cx="5577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1">
                <a:solidFill>
                  <a:srgbClr val="0B6670"/>
                </a:solidFill>
                <a:latin typeface="Aptos"/>
              </a:rPr>
              <a:t>AKSIYON GÜVENLIĞI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841248"/>
            <a:ext cx="4343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1151C"/>
                </a:solidFill>
                <a:latin typeface="Aptos Display"/>
              </a:rPr>
              <a:t>Politika farklılaşır, ama destek dışına kaçmaz.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2670048"/>
            <a:ext cx="41605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40" b="0">
                <a:solidFill>
                  <a:srgbClr val="58606D"/>
                </a:solidFill>
                <a:latin typeface="Aptos"/>
              </a:rPr>
              <a:t>Tam-kutu klinisyen uyumu %41.4; sapmalarda desteklenmeyen aksiyon oranı yalnızca %0.9 seviyesindedir.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74920" y="658368"/>
            <a:ext cx="653796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ac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2936" y="804672"/>
            <a:ext cx="6281928" cy="463600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230368" y="5833872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1">
                <a:solidFill>
                  <a:srgbClr val="58606D"/>
                </a:solidFill>
                <a:latin typeface="Aptos"/>
              </a:rPr>
              <a:t>5 x 5 sıvı-vazopresör gridi politika davranışını okunabilir kılar.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33888" y="6327648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8606D"/>
                </a:solidFill>
                <a:latin typeface="Aptos"/>
              </a:rPr>
              <a:t>12 / 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6327648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8606D"/>
                </a:solidFill>
                <a:latin typeface="Aptos"/>
              </a:rPr>
              <a:t>MIMIC-Sepsis Offline IQL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2286000"/>
          </a:xfrm>
          <a:prstGeom prst="rect">
            <a:avLst/>
          </a:prstGeom>
          <a:solidFill>
            <a:srgbClr val="E53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46304" cy="2286000"/>
          </a:xfrm>
          <a:prstGeom prst="rect">
            <a:avLst/>
          </a:prstGeom>
          <a:solidFill>
            <a:srgbClr val="0B6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146304" cy="2286000"/>
          </a:xfrm>
          <a:prstGeom prst="rect">
            <a:avLst/>
          </a:prstGeom>
          <a:solidFill>
            <a:srgbClr val="D09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02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88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874519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5603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461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617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3035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893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6751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60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325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4183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1041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789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1615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91440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55448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219455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283463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347472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11479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475487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539495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603504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667512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9966960" y="-502920"/>
            <a:ext cx="2194560" cy="2194560"/>
          </a:xfrm>
          <a:prstGeom prst="ellipse">
            <a:avLst/>
          </a:prstGeom>
          <a:solidFill>
            <a:srgbClr val="0B6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32520" y="5166360"/>
            <a:ext cx="3017520" cy="3017520"/>
          </a:xfrm>
          <a:prstGeom prst="ellipse">
            <a:avLst/>
          </a:prstGeom>
          <a:solidFill>
            <a:srgbClr val="E53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438912"/>
            <a:ext cx="5577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1">
                <a:solidFill>
                  <a:srgbClr val="D09B2C"/>
                </a:solidFill>
                <a:latin typeface="Aptos"/>
              </a:rPr>
              <a:t>ALT GRUP EMNIYETI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841248"/>
            <a:ext cx="4343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1151C"/>
                </a:solidFill>
                <a:latin typeface="Aptos Display"/>
              </a:rPr>
              <a:t>Klinik güvenlik alt gruplarda da denetlenir.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2670048"/>
            <a:ext cx="41605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40" b="0">
                <a:solidFill>
                  <a:srgbClr val="58606D"/>
                </a:solidFill>
                <a:latin typeface="Aptos"/>
              </a:rPr>
              <a:t>Ciddiyet alt gruplarında destek dışı aksiyonların sınırlı kalması, modelin pasifist veya agresif uçlara kaçmadığını test eder.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74920" y="658368"/>
            <a:ext cx="653796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ubgroup_safe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2936" y="804672"/>
            <a:ext cx="6281928" cy="463600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230368" y="5833872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1">
                <a:solidFill>
                  <a:srgbClr val="58606D"/>
                </a:solidFill>
                <a:latin typeface="Aptos"/>
              </a:rPr>
              <a:t>SOFA ve ciddiyet katmanlarında güvenlik teşhisleri.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33888" y="6327648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8606D"/>
                </a:solidFill>
                <a:latin typeface="Aptos"/>
              </a:rPr>
              <a:t>13 / 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6327648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8606D"/>
                </a:solidFill>
                <a:latin typeface="Aptos"/>
              </a:rPr>
              <a:t>MIMIC-Sepsis Offline IQL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2286000"/>
          </a:xfrm>
          <a:prstGeom prst="rect">
            <a:avLst/>
          </a:prstGeom>
          <a:solidFill>
            <a:srgbClr val="E53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46304" cy="2286000"/>
          </a:xfrm>
          <a:prstGeom prst="rect">
            <a:avLst/>
          </a:prstGeom>
          <a:solidFill>
            <a:srgbClr val="0B6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146304" cy="2286000"/>
          </a:xfrm>
          <a:prstGeom prst="rect">
            <a:avLst/>
          </a:prstGeom>
          <a:solidFill>
            <a:srgbClr val="D09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02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88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874519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5603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461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617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3035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893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6751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60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325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4183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1041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789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1615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91440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55448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219455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283463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347472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11479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475487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539495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603504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667512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9966960" y="-502920"/>
            <a:ext cx="2194560" cy="2194560"/>
          </a:xfrm>
          <a:prstGeom prst="ellipse">
            <a:avLst/>
          </a:prstGeom>
          <a:solidFill>
            <a:srgbClr val="0B6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32520" y="5166360"/>
            <a:ext cx="3017520" cy="3017520"/>
          </a:xfrm>
          <a:prstGeom prst="ellipse">
            <a:avLst/>
          </a:prstGeom>
          <a:solidFill>
            <a:srgbClr val="E53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438912"/>
            <a:ext cx="5577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1">
                <a:solidFill>
                  <a:srgbClr val="E5362E"/>
                </a:solidFill>
                <a:latin typeface="Aptos"/>
              </a:rPr>
              <a:t>KISITLAR VE ETIK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868680"/>
            <a:ext cx="52120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1151C"/>
                </a:solidFill>
                <a:latin typeface="Aptos Display"/>
              </a:rPr>
              <a:t>Bu çalışma klinik karar destek sistemi olarak dağıtılamaz.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06440" y="822960"/>
            <a:ext cx="5349240" cy="4553712"/>
          </a:xfrm>
          <a:prstGeom prst="roundRect">
            <a:avLst/>
          </a:prstGeom>
          <a:solidFill>
            <a:srgbClr val="FFFAF2"/>
          </a:solidFill>
          <a:ln w="12700">
            <a:solidFill>
              <a:srgbClr val="E5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44768" y="1261872"/>
            <a:ext cx="4645152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11151C"/>
                </a:solidFill>
                <a:latin typeface="Aptos"/>
              </a:defRPr>
            </a:pPr>
            <a:r>
              <a:t>EHR kayıtları hekimin yatak başı sezgisini, kontrendikasyonları ve tüm klinik nüansları kapsamaz.</a:t>
            </a:r>
          </a:p>
          <a:p>
            <a:pPr>
              <a:spcAft>
                <a:spcPts val="700"/>
              </a:spcAft>
              <a:defRPr sz="1250">
                <a:solidFill>
                  <a:srgbClr val="11151C"/>
                </a:solidFill>
                <a:latin typeface="Aptos"/>
              </a:defRPr>
            </a:pPr>
            <a:r>
              <a:t>Endikasyon bazlı karıştırıcılık gözlemsel kohortta tamamen ortadan kaldırılamaz.</a:t>
            </a:r>
          </a:p>
          <a:p>
            <a:pPr>
              <a:spcAft>
                <a:spcPts val="700"/>
              </a:spcAft>
              <a:defRPr sz="1250">
                <a:solidFill>
                  <a:srgbClr val="11151C"/>
                </a:solidFill>
                <a:latin typeface="Aptos"/>
              </a:defRPr>
            </a:pPr>
            <a:r>
              <a:t>FQE/WIS model varsayımlarına bağlı tahminleyicilerdir; randomize prospektif çalışmanın yerine geçmez.</a:t>
            </a:r>
          </a:p>
          <a:p>
            <a:pPr>
              <a:spcAft>
                <a:spcPts val="700"/>
              </a:spcAft>
              <a:defRPr sz="1250">
                <a:solidFill>
                  <a:srgbClr val="11151C"/>
                </a:solidFill>
                <a:latin typeface="Aptos"/>
              </a:defRPr>
            </a:pPr>
            <a:r>
              <a:t>MIMIC-IV kullanımı PhysioNet credentialing, CITI eğitimi ve HIPAA veri yönetişimi sınırlarıyla yürütülür.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" y="3977639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5362E"/>
                </a:solidFill>
                <a:latin typeface="Aptos Display"/>
              </a:rPr>
              <a:t>Savunma cümlesi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" y="4443984"/>
            <a:ext cx="4343400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1151C"/>
                </a:solidFill>
                <a:latin typeface="Aptos"/>
              </a:rPr>
              <a:t>Modelin değeri tedavi buyruğu vermesinde değil; hangi RL iddiasının veri desteği içinde kaldığını şeffaf biçimde göstermesindedir.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33888" y="6327648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8606D"/>
                </a:solidFill>
                <a:latin typeface="Aptos"/>
              </a:rPr>
              <a:t>14 / 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6327648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8606D"/>
                </a:solidFill>
                <a:latin typeface="Aptos"/>
              </a:rPr>
              <a:t>MIMIC-Sepsis Offline IQL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2286000"/>
          </a:xfrm>
          <a:prstGeom prst="rect">
            <a:avLst/>
          </a:prstGeom>
          <a:solidFill>
            <a:srgbClr val="E53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46304" cy="2286000"/>
          </a:xfrm>
          <a:prstGeom prst="rect">
            <a:avLst/>
          </a:prstGeom>
          <a:solidFill>
            <a:srgbClr val="0B6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146304" cy="2286000"/>
          </a:xfrm>
          <a:prstGeom prst="rect">
            <a:avLst/>
          </a:prstGeom>
          <a:solidFill>
            <a:srgbClr val="D09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02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88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874519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5603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461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617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3035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893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6751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60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325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4183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1041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789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1615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91440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55448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219455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283463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347472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11479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475487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539495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603504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667512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9966960" y="-502920"/>
            <a:ext cx="2194560" cy="2194560"/>
          </a:xfrm>
          <a:prstGeom prst="ellipse">
            <a:avLst/>
          </a:prstGeom>
          <a:solidFill>
            <a:srgbClr val="0B6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32520" y="5166360"/>
            <a:ext cx="3017520" cy="3017520"/>
          </a:xfrm>
          <a:prstGeom prst="ellipse">
            <a:avLst/>
          </a:prstGeom>
          <a:solidFill>
            <a:srgbClr val="E53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438912"/>
            <a:ext cx="5577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1">
                <a:solidFill>
                  <a:srgbClr val="0B6670"/>
                </a:solidFill>
                <a:latin typeface="Aptos"/>
              </a:rPr>
              <a:t>DEFANSIF Q&amp;A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868680"/>
            <a:ext cx="54864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11151C"/>
                </a:solidFill>
                <a:latin typeface="Aptos Display"/>
              </a:rPr>
              <a:t>Jürinin sert sorularına hazır üç cevap.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680" y="2057400"/>
            <a:ext cx="3127248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2359152"/>
            <a:ext cx="26700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1151C"/>
                </a:solidFill>
                <a:latin typeface="Aptos Display"/>
              </a:rPr>
              <a:t>ESS neden düşük?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2880360"/>
            <a:ext cx="2542032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58606D"/>
                </a:solidFill>
                <a:latin typeface="Aptos"/>
              </a:rPr>
              <a:t>Gizlenmedi; BC'nin ESS=1.6 kırılganlığına karşı IQL 29.41 ile daha stabil, fakat yine de temkinli raporlandı.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44568" y="2057400"/>
            <a:ext cx="3127248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73168" y="2359152"/>
            <a:ext cx="26700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1151C"/>
                </a:solidFill>
                <a:latin typeface="Aptos Display"/>
              </a:rPr>
              <a:t>Aksiyon gridi kaba değil mi?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73168" y="2880360"/>
            <a:ext cx="2542032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58606D"/>
                </a:solidFill>
                <a:latin typeface="Aptos"/>
              </a:rPr>
              <a:t>Evet, fakat continuous OOD ekstrapolasyon riskini azaltan muhafazakar klinik zırh olarak seçildi.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0455" y="2057400"/>
            <a:ext cx="3127248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9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49055" y="2359152"/>
            <a:ext cx="26700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1151C"/>
                </a:solidFill>
                <a:latin typeface="Aptos Display"/>
              </a:rPr>
              <a:t>POMDP ve confounding?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49055" y="2880360"/>
            <a:ext cx="2542032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58606D"/>
                </a:solidFill>
                <a:latin typeface="Aptos"/>
              </a:rPr>
              <a:t>Missingness sinyalleri, alt grup analizleri ve destek teşhisleri riski azaltır; nedensel kanıt iddiası kurulmaz.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" y="5074920"/>
            <a:ext cx="6858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B6670"/>
                </a:solidFill>
                <a:latin typeface="Aptos Display"/>
              </a:rPr>
              <a:t>Sunum tonu: iddialı değil, denetlenebilir ve sınırlarını bilen.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33888" y="6327648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8606D"/>
                </a:solidFill>
                <a:latin typeface="Aptos"/>
              </a:rPr>
              <a:t>15 / 16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6327648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8606D"/>
                </a:solidFill>
                <a:latin typeface="Aptos"/>
              </a:rPr>
              <a:t>MIMIC-Sepsis Offline IQL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2286000"/>
          </a:xfrm>
          <a:prstGeom prst="rect">
            <a:avLst/>
          </a:prstGeom>
          <a:solidFill>
            <a:srgbClr val="E53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46304" cy="2286000"/>
          </a:xfrm>
          <a:prstGeom prst="rect">
            <a:avLst/>
          </a:prstGeom>
          <a:solidFill>
            <a:srgbClr val="0B6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146304" cy="2286000"/>
          </a:xfrm>
          <a:prstGeom prst="rect">
            <a:avLst/>
          </a:prstGeom>
          <a:solidFill>
            <a:srgbClr val="D09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02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88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874519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5603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461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931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617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3035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893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6751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60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325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4183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1041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7899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757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161520" y="0"/>
            <a:ext cx="0" cy="685800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91440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55448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219455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283463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347472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411479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475487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5394959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603504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6675120"/>
            <a:ext cx="12191999" cy="0"/>
          </a:xfrm>
          <a:prstGeom prst="line">
            <a:avLst/>
          </a:prstGeom>
          <a:ln w="3175">
            <a:solidFill>
              <a:srgbClr val="D6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9966960" y="-502920"/>
            <a:ext cx="2194560" cy="2194560"/>
          </a:xfrm>
          <a:prstGeom prst="ellipse">
            <a:avLst/>
          </a:prstGeom>
          <a:solidFill>
            <a:srgbClr val="0B6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32520" y="5166360"/>
            <a:ext cx="3017520" cy="3017520"/>
          </a:xfrm>
          <a:prstGeom prst="ellipse">
            <a:avLst/>
          </a:prstGeom>
          <a:solidFill>
            <a:srgbClr val="E53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438912"/>
            <a:ext cx="5577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1">
                <a:solidFill>
                  <a:srgbClr val="D09B2C"/>
                </a:solidFill>
                <a:latin typeface="Aptos"/>
              </a:rPr>
              <a:t>SONUÇ VE GELECEK ÇALIŞMA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868680"/>
            <a:ext cx="589788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1151C"/>
                </a:solidFill>
                <a:latin typeface="Aptos Display"/>
              </a:rPr>
              <a:t>Güvenli klinik RL, daha büyük aksiyon gridiyle değil belirsizlik katmanıyla ilerler.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2788920"/>
            <a:ext cx="516636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58606D"/>
                </a:solidFill>
                <a:latin typeface="Aptos"/>
              </a:rPr>
              <a:t>Bu deste, IQL hattını agresif performans anlatısından çıkarıp istatistiksel sınırları görünür kılan bir akademik savunma anlatısına dönüştürür.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44768" y="960120"/>
            <a:ext cx="2176272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59" y="1115568"/>
            <a:ext cx="1810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1">
                <a:solidFill>
                  <a:srgbClr val="11151C"/>
                </a:solidFill>
                <a:latin typeface="Aptos Display"/>
              </a:rPr>
              <a:t>Dinamik expectile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59" y="1545336"/>
            <a:ext cx="17830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58606D"/>
                </a:solidFill>
                <a:latin typeface="Aptos"/>
              </a:rPr>
              <a:t>Seyrek bölgede davranışa yakın, yoğun destekte daha esnek politika.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59367" y="960120"/>
            <a:ext cx="2176272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23959" y="1115568"/>
            <a:ext cx="1810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1">
                <a:solidFill>
                  <a:srgbClr val="11151C"/>
                </a:solidFill>
                <a:latin typeface="Aptos Display"/>
              </a:rPr>
              <a:t>Uncertainty critics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23959" y="1545336"/>
            <a:ext cx="17830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58606D"/>
                </a:solidFill>
                <a:latin typeface="Aptos"/>
              </a:rPr>
              <a:t>Epistemik belirsizlik yüksek durumlarda öneriyi bayraklama.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44768" y="2788920"/>
            <a:ext cx="2176272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9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59" y="2944368"/>
            <a:ext cx="1810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1">
                <a:solidFill>
                  <a:srgbClr val="11151C"/>
                </a:solidFill>
                <a:latin typeface="Aptos Display"/>
              </a:rPr>
              <a:t>Guideline filter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59" y="3374136"/>
            <a:ext cx="17830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58606D"/>
                </a:solidFill>
                <a:latin typeface="Aptos"/>
              </a:rPr>
              <a:t>Klinik kılavuz ihlallerini runtime katmanında engelleme.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59367" y="2788920"/>
            <a:ext cx="2176272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23959" y="2944368"/>
            <a:ext cx="18105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1">
                <a:solidFill>
                  <a:srgbClr val="11151C"/>
                </a:solidFill>
                <a:latin typeface="Aptos Display"/>
              </a:rPr>
              <a:t>Prospektif yol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23959" y="3374136"/>
            <a:ext cx="17830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60" b="0">
                <a:solidFill>
                  <a:srgbClr val="58606D"/>
                </a:solidFill>
                <a:latin typeface="Aptos"/>
              </a:rPr>
              <a:t>Simülasyon ve klinisyen-in-the-loop validasyon sonrası sınırlı pilot.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808" y="5641848"/>
            <a:ext cx="2834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5362E"/>
                </a:solidFill>
                <a:latin typeface="Aptos Display"/>
              </a:rPr>
              <a:t>Teşekkürler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33888" y="6327648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>
                <a:solidFill>
                  <a:srgbClr val="58606D"/>
                </a:solidFill>
                <a:latin typeface="Aptos"/>
              </a:rPr>
              <a:t>16 / 16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" y="6327648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8606D"/>
                </a:solidFill>
                <a:latin typeface="Aptos"/>
              </a:rPr>
              <a:t>MIMIC-Sepsis Offline IQL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