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OFFLINE RL / SEPSIS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MIMIC-IV + IQL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700" b="1">
                <a:solidFill>
                  <a:srgbClr val="111316"/>
                </a:solidFill>
                <a:latin typeface="Archivo"/>
              </a:rPr>
              <a:t>SEPSIS DOZAJ POLITIKALARI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2717A"/>
                </a:solidFill>
                <a:latin typeface="Nunito"/>
              </a:rPr>
              <a:t>Destek sınırlı klinik koşullarda çevrimdışı pekiştirmeli öğrenme iş akışı.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43000"/>
            <a:ext cx="4800600" cy="3108960"/>
          </a:xfrm>
          <a:prstGeom prst="rect">
            <a:avLst/>
          </a:prstGeom>
          <a:solidFill>
            <a:srgbClr val="E23D28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8132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Nunito"/>
              </a:rPr>
              <a:t>Final aday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Nunito"/>
              </a:rPr>
              <a:t>iql_sofa_shaped_conservative_safe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926080"/>
            <a:ext cx="1417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ctr">
              <a:defRPr b="1" sz="2200">
                <a:solidFill>
                  <a:srgbClr val="E23D28"/>
                </a:solidFill>
                <a:latin typeface="Archivo"/>
              </a:defRPr>
            </a:pPr>
            <a:r>
              <a:t>2.848</a:t>
            </a:r>
          </a:p>
          <a:p>
            <a:pPr>
              <a:defRPr b="1" sz="700">
                <a:solidFill>
                  <a:srgbClr val="62717A"/>
                </a:solidFill>
                <a:latin typeface="Space Mono"/>
              </a:defRPr>
            </a:pPr>
            <a:r>
              <a:t>FQE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5008" y="2926080"/>
            <a:ext cx="1417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ctr">
              <a:defRPr b="1" sz="2200">
                <a:solidFill>
                  <a:srgbClr val="E23D28"/>
                </a:solidFill>
                <a:latin typeface="Archivo"/>
              </a:defRPr>
            </a:pPr>
            <a:r>
              <a:t>8.203</a:t>
            </a:r>
          </a:p>
          <a:p>
            <a:pPr>
              <a:defRPr b="1" sz="700">
                <a:solidFill>
                  <a:srgbClr val="62717A"/>
                </a:solidFill>
                <a:latin typeface="Space Mono"/>
              </a:defRPr>
            </a:pPr>
            <a:r>
              <a:t>WIS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74352" y="2926080"/>
            <a:ext cx="1417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ctr">
              <a:defRPr b="1" sz="2200">
                <a:solidFill>
                  <a:srgbClr val="E23D28"/>
                </a:solidFill>
                <a:latin typeface="Archivo"/>
              </a:defRPr>
            </a:pPr>
            <a:r>
              <a:t>29.41</a:t>
            </a:r>
          </a:p>
          <a:p>
            <a:pPr>
              <a:defRPr b="1" sz="700">
                <a:solidFill>
                  <a:srgbClr val="62717A"/>
                </a:solidFill>
                <a:latin typeface="Space Mono"/>
              </a:defRPr>
            </a:pPr>
            <a:r>
              <a:t>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NEDEN ZOR?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480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400" b="1">
                <a:solidFill>
                  <a:srgbClr val="111316"/>
                </a:solidFill>
                <a:latin typeface="Archivo"/>
              </a:rPr>
              <a:t>KLINIK VERI DESTEK SINIRI TAŞIR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123444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64592" tIns="164592" bIns="109728"/>
          <a:lstStyle/>
          <a:p>
            <a:pPr algn="ctr"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Sepsis kararları gecikmeli mortalite sonucuna bağlanır.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Daha ağır hastalar daha agresif tedavi aldığı için confounding oluşur.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Çevrimdışı RL hastada keşif yapmaz; yalnız tarihsel yörüngeleri kullanır.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Desteksiz sıvı-vazopresör kombinasyonları klinik olarak güvenilmezdir.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297680"/>
            <a:ext cx="24688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8A498"/>
                </a:solidFill>
                <a:latin typeface="Archivo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MIMARI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10 ADIMLI PROTOKOL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6126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MODEL DEĞIL, DENETLENEBILIR IŞ AKIŞI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8892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293522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Kohort</a:t>
            </a:r>
            <a:br/>
            <a:r>
              <a:t>Sepsis-3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4368" y="278892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288036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293522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72 saat</a:t>
            </a:r>
            <a:br/>
            <a:r>
              <a:t>4 saatlik adım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216" y="278892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8655" y="288036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96127" y="293522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Patient split</a:t>
            </a:r>
            <a:br/>
            <a:r>
              <a:t>train-only fit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70064" y="278892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1504" y="288036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8976" y="293522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62 boyutlu</a:t>
            </a:r>
            <a:br/>
            <a:r>
              <a:t>state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82912" y="278892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4352" y="288036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21824" y="293522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5x5 action</a:t>
            </a:r>
            <a:br/>
            <a:r>
              <a:t>iki reward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02336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11480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6966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Replay</a:t>
            </a:r>
            <a:br/>
            <a:r>
              <a:t>baseline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44368" y="402336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35808" y="411480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416966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IQL</a:t>
            </a:r>
            <a:br/>
            <a:r>
              <a:t>eğitim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216" y="402336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8655" y="411480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7" y="416966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OPE</a:t>
            </a:r>
            <a:br/>
            <a:r>
              <a:t>FQE/WIS/ESS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0064" y="402336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1504" y="411480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08976" y="416966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Güvenlik</a:t>
            </a:r>
            <a:br/>
            <a:r>
              <a:t>teşhisleri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2912" y="4023360"/>
            <a:ext cx="1874519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4114800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23D28"/>
                </a:solidFill>
                <a:latin typeface="Archivo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21824" y="4169664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11316"/>
                </a:solidFill>
                <a:latin typeface="Nunito"/>
              </a:rPr>
              <a:t>Final sweep</a:t>
            </a:r>
            <a:br/>
            <a:r>
              <a:t>artifact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MDP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FORMÜLASYON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400" b="1">
                <a:solidFill>
                  <a:srgbClr val="111316"/>
                </a:solidFill>
                <a:latin typeface="Archivo"/>
              </a:rPr>
              <a:t>SONLU UFUKLU KARAR SÜRECI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2717A"/>
                </a:solidFill>
                <a:latin typeface="Nunito"/>
              </a:rPr>
              <a:t>Her geçiş hasta durumunu, 25 ayrık tedavi aksiyonunu ve terminal/ara ödülü taşır.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32120" y="1234440"/>
            <a:ext cx="5120640" cy="1188720"/>
          </a:xfrm>
          <a:prstGeom prst="rect">
            <a:avLst/>
          </a:prstGeom>
          <a:solidFill>
            <a:srgbClr val="111316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79008" y="1481328"/>
            <a:ext cx="4572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93D9C8"/>
                </a:solidFill>
                <a:latin typeface="Nunito"/>
              </a:rPr>
              <a:t>M = (S, A, P, R, gamma)</a:t>
            </a:r>
            <a:br/>
            <a:r>
              <a:t>(s_t, a_t, r_t, s_{t+1}, done_t)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2120" y="2834640"/>
            <a:ext cx="1417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ctr">
              <a:defRPr b="1" sz="2200">
                <a:solidFill>
                  <a:srgbClr val="E23D28"/>
                </a:solidFill>
                <a:latin typeface="Archivo"/>
              </a:defRPr>
            </a:pPr>
            <a:r>
              <a:t>62</a:t>
            </a:r>
          </a:p>
          <a:p>
            <a:pPr>
              <a:defRPr b="1" sz="700">
                <a:solidFill>
                  <a:srgbClr val="62717A"/>
                </a:solidFill>
                <a:latin typeface="Space Mono"/>
              </a:defRPr>
            </a:pPr>
            <a:r>
              <a:t>STATE FEATURE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42048" y="2834640"/>
            <a:ext cx="1417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ctr">
              <a:defRPr b="1" sz="2200">
                <a:solidFill>
                  <a:srgbClr val="E23D28"/>
                </a:solidFill>
                <a:latin typeface="Archivo"/>
              </a:defRPr>
            </a:pPr>
            <a:r>
              <a:t>25</a:t>
            </a:r>
          </a:p>
          <a:p>
            <a:pPr>
              <a:defRPr b="1" sz="700">
                <a:solidFill>
                  <a:srgbClr val="62717A"/>
                </a:solidFill>
                <a:latin typeface="Space Mono"/>
              </a:defRPr>
            </a:pPr>
            <a:r>
              <a:t>ACTION BIN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2834640"/>
            <a:ext cx="1417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ctr">
              <a:defRPr b="1" sz="2200">
                <a:solidFill>
                  <a:srgbClr val="E23D28"/>
                </a:solidFill>
                <a:latin typeface="Archivo"/>
              </a:defRPr>
            </a:pPr>
            <a:r>
              <a:t>0.99</a:t>
            </a:r>
          </a:p>
          <a:p>
            <a:pPr>
              <a:defRPr b="1" sz="700">
                <a:solidFill>
                  <a:srgbClr val="62717A"/>
                </a:solidFill>
                <a:latin typeface="Space Mono"/>
              </a:defRPr>
            </a:pPr>
            <a:r>
              <a:t>GAMMA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ACTION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SIVI X VAZOPRESÖR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400" b="1">
                <a:solidFill>
                  <a:srgbClr val="111316"/>
                </a:solidFill>
                <a:latin typeface="Archivo"/>
              </a:rPr>
              <a:t>25 AYRIK TEDAVI KUTUSU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2926080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64592" tIns="164592" bIns="109728"/>
          <a:lstStyle/>
          <a:p>
            <a:pPr algn="ctr"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Bin 0: tedavi yok.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Sıfır dışı dozlar eğitim bölmesi çeyreklikleriyle Q1-Q4.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Eşikler train üzerinde öğrenilir, validation/test üzerinde dondurulur.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1225296"/>
            <a:ext cx="621792" cy="621792"/>
          </a:xfrm>
          <a:prstGeom prst="rect">
            <a:avLst/>
          </a:prstGeom>
          <a:solidFill>
            <a:srgbClr val="FADCD6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140817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56248" y="1225296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2552" y="140817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06055" y="1225296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59" y="140817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5863" y="1225296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7" y="140817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05672" y="1225296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51976" y="140817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975104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15798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56248" y="1975104"/>
            <a:ext cx="621792" cy="621792"/>
          </a:xfrm>
          <a:prstGeom prst="rect">
            <a:avLst/>
          </a:prstGeom>
          <a:solidFill>
            <a:srgbClr val="FADCD6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15798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6055" y="1975104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59" y="215798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55863" y="1975104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7" y="215798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05672" y="1975104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1976" y="215798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2724912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29077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56248" y="2724912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2552" y="29077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06055" y="2724912"/>
            <a:ext cx="621792" cy="621792"/>
          </a:xfrm>
          <a:prstGeom prst="rect">
            <a:avLst/>
          </a:prstGeom>
          <a:solidFill>
            <a:srgbClr val="FADCD6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59" y="29077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55863" y="2724912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02167" y="29077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05672" y="2724912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51976" y="29077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474720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36576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56248" y="3474720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02552" y="36576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06055" y="3474720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52359" y="36576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55863" y="3474720"/>
            <a:ext cx="621792" cy="621792"/>
          </a:xfrm>
          <a:prstGeom prst="rect">
            <a:avLst/>
          </a:prstGeom>
          <a:solidFill>
            <a:srgbClr val="FADCD6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2167" y="36576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05672" y="3474720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51976" y="36576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224528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52744" y="440740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20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56248" y="4224528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02552" y="440740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06055" y="4224528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52359" y="440740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22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55863" y="4224528"/>
            <a:ext cx="62179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02167" y="440740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05672" y="4224528"/>
            <a:ext cx="621792" cy="621792"/>
          </a:xfrm>
          <a:prstGeom prst="rect">
            <a:avLst/>
          </a:prstGeom>
          <a:solidFill>
            <a:srgbClr val="FADCD6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51976" y="440740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11316"/>
                </a:solidFill>
                <a:latin typeface="Archivo"/>
              </a:rPr>
              <a:t>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REWARDS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ÖDÜL TASARIMI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000" b="1">
                <a:solidFill>
                  <a:srgbClr val="111316"/>
                </a:solidFill>
                <a:latin typeface="Archivo"/>
              </a:rPr>
              <a:t>SEYREK SONUCA SOFA ŞEKILLENDIRMESI EKLENIR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2971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35808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316"/>
                </a:solidFill>
                <a:latin typeface="Archivo"/>
              </a:rPr>
              <a:t>Sparse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316"/>
                </a:solidFill>
                <a:latin typeface="Nunito"/>
              </a:rPr>
              <a:t>90 gün sağkalım +15, 90 gün mortalite -15.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834640"/>
            <a:ext cx="2971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3035808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316"/>
                </a:solidFill>
                <a:latin typeface="Archivo"/>
              </a:rPr>
              <a:t>SOFA-shaped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566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316"/>
                </a:solidFill>
                <a:latin typeface="Nunito"/>
              </a:rPr>
              <a:t>Terminal fayda korunur; ara adımlarda SOFA değişimi küçük sinyal üretir.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2834640"/>
            <a:ext cx="2971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3035808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316"/>
                </a:solidFill>
                <a:latin typeface="Archivo"/>
              </a:rPr>
              <a:t>Kontrol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66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316"/>
                </a:solidFill>
                <a:latin typeface="Nunito"/>
              </a:rPr>
              <a:t>Shaping mortalite hedefinin yerini almaz; final seçim ortak terminal değerlendirmeye bağlanır.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IQL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ALGORITMA SEÇIMI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IQL VERI DIŞI AKSIYON MAKSIMUMU ALMAZ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1325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64592" tIns="164592" bIns="109728"/>
          <a:lstStyle/>
          <a:p>
            <a:pPr algn="ctr"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Value: expectile regression ile veri içindeki yüksek değerli aksiyonlara yaklaşır.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Q: öğrenilen state-value hedefiyle güncellenir.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Actor: avantaj ağırlıklı davranış klonlama ile politika çıkarır.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Temperature arttıkça getiri potansiyeli ve destek dışına kayma riski birlikte artar.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44805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8A498"/>
                </a:solidFill>
                <a:latin typeface="Archivo"/>
              </a:rPr>
              <a:t>IQL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SWEEP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FINAL TARAMA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5943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400" b="1">
                <a:solidFill>
                  <a:srgbClr val="111316"/>
                </a:solidFill>
                <a:latin typeface="Archivo"/>
              </a:rPr>
              <a:t>18 ADAY, 6 FINALIST, 3 TOHUM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4343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9169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316"/>
                </a:solidFill>
                <a:latin typeface="Archivo"/>
              </a:rPr>
              <a:t>2 ödül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91693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316"/>
                </a:solidFill>
                <a:latin typeface="Nunito"/>
              </a:rPr>
              <a:t>Sparse ve SOFA-shaped aynı terminal değerlendirme altında karşılaştırıldı.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788920"/>
            <a:ext cx="4343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6752" y="29169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316"/>
                </a:solidFill>
                <a:latin typeface="Archivo"/>
              </a:rPr>
              <a:t>3 LR rejimi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4928" y="291693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316"/>
                </a:solidFill>
                <a:latin typeface="Nunito"/>
              </a:rPr>
              <a:t>Konservatif, referans ve aktör-konservatif optimizasyon.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23360"/>
            <a:ext cx="4343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15137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316"/>
                </a:solidFill>
                <a:latin typeface="Archivo"/>
              </a:rPr>
              <a:t>3 IQL ayarı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415137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316"/>
                </a:solidFill>
                <a:latin typeface="Nunito"/>
              </a:rPr>
              <a:t>Güvenli, referans ve iyimser expectile-temperature çiftleri.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4023360"/>
            <a:ext cx="4343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415137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316"/>
                </a:solidFill>
                <a:latin typeface="Archivo"/>
              </a:rPr>
              <a:t>3 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415137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316"/>
                </a:solidFill>
                <a:latin typeface="Nunito"/>
              </a:rPr>
              <a:t>Finalistler 42, 123 ve 456 tohumlarıyla yeniden ölçüldü.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FINALIST SEÇIMI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YÜKSEK DEĞER TEK BAŞINA YETERLI DEĞIL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97480"/>
            <a:ext cx="4434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2717A"/>
                </a:solidFill>
                <a:latin typeface="Nunito"/>
              </a:rPr>
              <a:t>Seçim FQE/WIS ile destek, uyum, düşük destek uyarısı ve çeşitlilik slotlarını birlikte okur.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417320"/>
          <a:ext cx="58064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</a:tblGrid>
              <a:tr h="49377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Aday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FQE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WIS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Destek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SOFA conservative 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3.169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8.616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0.965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SOFA conservative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2.280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7.009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0.973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Sparse conservative 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1.954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8.740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Sparse baseline 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2.345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8.125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0.963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DEĞER VE DESTEK BIRLIKTE RAPORLANIR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886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2717A"/>
                </a:solidFill>
                <a:latin typeface="Nunito"/>
              </a:rPr>
              <a:t>Yüksek değer tahminleri destek kütlesiyle birlikte yorumlanır.</a:t>
            </a:r>
          </a:p>
        </p:txBody>
      </p:sp>
      <p:pic>
        <p:nvPicPr>
          <p:cNvPr id="7" name="Picture 6" descr="fqe_vs_sup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960120"/>
            <a:ext cx="630936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4920" y="5806440"/>
            <a:ext cx="6309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2717A"/>
                </a:solidFill>
                <a:latin typeface="Space Mono"/>
              </a:rPr>
              <a:t>FQE VS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ÜÇ TOHUMLU 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5943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FINAL: SOFA + KONSERVATIF + GÜVENLI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9808" y="2743200"/>
          <a:ext cx="107442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4885"/>
                <a:gridCol w="1534885"/>
                <a:gridCol w="1534885"/>
                <a:gridCol w="1534885"/>
                <a:gridCol w="1534885"/>
                <a:gridCol w="1534885"/>
                <a:gridCol w="1534890"/>
              </a:tblGrid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Sıra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Konfigürasyon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Skor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FQE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WIS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ESS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Uyum</a:t>
                      </a:r>
                    </a:p>
                  </a:txBody>
                  <a:tcPr>
                    <a:solidFill>
                      <a:srgbClr val="11131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SOFA konservatif güvenli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5.858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2.848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8.203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29.41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0.414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SOFA konservatif referans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5.288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2.366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8.286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26.12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0.404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Sparse konservatif güvenli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5.262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2.316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8.169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31.32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0.411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Sparse konservatif referans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5.033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2.050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8.536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23D28"/>
                          </a:solidFill>
                          <a:latin typeface="Nunito"/>
                        </a:defRPr>
                      </a:pPr>
                      <a:r>
                        <a:t>26.10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11316"/>
                          </a:solidFill>
                          <a:latin typeface="Nunito"/>
                        </a:defRPr>
                      </a:pPr>
                      <a:r>
                        <a:t>0.401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DAVRANIŞ KLONLAMA YÜKSEK WIS ÜRETIR AMA ESS ÇÖKER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886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2717A"/>
                </a:solidFill>
                <a:latin typeface="Nunito"/>
              </a:rPr>
              <a:t>Clinician ESS=2585, BC ESS=1.6, IQL ESS=29.4.</a:t>
            </a:r>
          </a:p>
        </p:txBody>
      </p:sp>
      <p:pic>
        <p:nvPicPr>
          <p:cNvPr id="7" name="Picture 6" descr="baselin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960120"/>
            <a:ext cx="630936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4920" y="5806440"/>
            <a:ext cx="6309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2717A"/>
                </a:solidFill>
                <a:latin typeface="Space Mono"/>
              </a:rPr>
              <a:t>BASELINE COMPARISON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POLITIKA KLINISYENI KOPYALAMAZ, AMA DESTEK IÇINDE KALIR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886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2717A"/>
                </a:solidFill>
                <a:latin typeface="Nunito"/>
              </a:rPr>
              <a:t>Destek kütlesi 0.991; tam-kutu uyum 0.414; desteklenmeyen sapma 0.009.</a:t>
            </a:r>
          </a:p>
        </p:txBody>
      </p:sp>
      <p:pic>
        <p:nvPicPr>
          <p:cNvPr id="7" name="Picture 6" descr="ac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960120"/>
            <a:ext cx="630936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4920" y="5806440"/>
            <a:ext cx="6309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2717A"/>
                </a:solidFill>
                <a:latin typeface="Space Mono"/>
              </a:rPr>
              <a:t>ACTION HEATMAP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CI GENIŞ, ESS DÜŞÜK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886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2717A"/>
                </a:solidFill>
                <a:latin typeface="Nunito"/>
              </a:rPr>
              <a:t>WIS 95% CI = 4.963--10.817. Sonuç klinik üstünlük iddiası değildir.</a:t>
            </a:r>
          </a:p>
        </p:txBody>
      </p:sp>
      <p:pic>
        <p:nvPicPr>
          <p:cNvPr id="7" name="Picture 6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960120"/>
            <a:ext cx="630936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4920" y="5806440"/>
            <a:ext cx="6309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2717A"/>
                </a:solidFill>
                <a:latin typeface="Space Mono"/>
              </a:rPr>
              <a:t>BOOTSTRAP WIS CI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YENIDEN ÜRETILEBILIRLIK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400" b="1">
                <a:solidFill>
                  <a:srgbClr val="111316"/>
                </a:solidFill>
                <a:latin typeface="Archivo"/>
              </a:rPr>
              <a:t>ARTIFACT ODAKLI DENEY YIĞINI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1417320"/>
            <a:ext cx="2377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32704" y="1554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316"/>
                </a:solidFill>
                <a:latin typeface="Archivo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2704" y="1920240"/>
            <a:ext cx="19933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11316"/>
                </a:solidFill>
                <a:latin typeface="Nunito"/>
              </a:rPr>
              <a:t>Polars, PyArrow, Parquet ve hasta düzeyi manifestolar.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417320"/>
            <a:ext cx="2377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0183" y="1554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316"/>
                </a:solidFill>
                <a:latin typeface="Archivo"/>
              </a:rPr>
              <a:t>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0183" y="1920240"/>
            <a:ext cx="19933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11316"/>
                </a:solidFill>
                <a:latin typeface="Nunito"/>
              </a:rPr>
              <a:t>PyTorch, özelleştirilmiş d3rlpy, CUDA/MPS/auto cihaz seçimi.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2926080"/>
            <a:ext cx="2377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32704" y="30632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316"/>
                </a:solidFill>
                <a:latin typeface="Archivo"/>
              </a:rPr>
              <a:t>Config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2704" y="3429000"/>
            <a:ext cx="19933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11316"/>
                </a:solidFill>
                <a:latin typeface="Nunito"/>
              </a:rPr>
              <a:t>Hydra, run naming, seed ve checkpoint sözleşmeleri.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2926080"/>
            <a:ext cx="2377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3" y="30632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316"/>
                </a:solidFill>
                <a:latin typeface="Archivo"/>
              </a:rPr>
              <a:t>Tracking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3429000"/>
            <a:ext cx="19933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11316"/>
                </a:solidFill>
                <a:latin typeface="Nunito"/>
              </a:rPr>
              <a:t>MLflow, grafik paketi ve IEEE rapor artifact'leri.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SINIRLAR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100" b="1">
                <a:solidFill>
                  <a:srgbClr val="111316"/>
                </a:solidFill>
                <a:latin typeface="Archivo"/>
              </a:rPr>
              <a:t>BU BIR YATAK BAŞI TEDAVI ÖNERISI DEĞILDIR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123444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64592" tIns="164592" bIns="109728"/>
          <a:lstStyle/>
          <a:p>
            <a:pPr algn="ctr"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Çalışma retrospektif ve gözlemseldir.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Durum vektörü hekim niyetini ve ölçülmeyen karıştırıcıları tam kapsamaz.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FQE/WIS prospektif klinik kanıt değildir.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300">
                <a:solidFill>
                  <a:srgbClr val="111316"/>
                </a:solidFill>
                <a:latin typeface="Nunito"/>
              </a:defRPr>
            </a:pPr>
            <a:r>
              <a:t>■ MIMIC-IV kullanımı PhysioNet, CITI ve DUA sınırları içinde kalmalıdır.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SONRAKI ARAŞTIRMA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2900" b="1">
                <a:solidFill>
                  <a:srgbClr val="111316"/>
                </a:solidFill>
                <a:latin typeface="Archivo"/>
              </a:rPr>
              <a:t>DAHA BÜYÜK GRID DEĞIL, BELIRSIZLIK-DUYARLI POLITIKA GÜNCELLEMESI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54680"/>
            <a:ext cx="2971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31012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316"/>
                </a:solidFill>
                <a:latin typeface="Archivo"/>
              </a:rPr>
              <a:t>Dinamik expectile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703320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316"/>
                </a:solidFill>
                <a:latin typeface="Nunito"/>
              </a:rPr>
              <a:t>Yoğun destekte agresif, seyrek bölgede davranışa yakın güncelleme.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3154680"/>
            <a:ext cx="2971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6552" y="331012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316"/>
                </a:solidFill>
                <a:latin typeface="Archivo"/>
              </a:rPr>
              <a:t>Multi-step traces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703320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316"/>
                </a:solidFill>
                <a:latin typeface="Nunito"/>
              </a:rPr>
              <a:t>Seyrek terminal mortalite sinyalini yörünge boyunca daha hızlı taşıma.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3154680"/>
            <a:ext cx="2971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45552" y="331012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316"/>
                </a:solidFill>
                <a:latin typeface="Archivo"/>
              </a:rPr>
              <a:t>World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3703320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316"/>
                </a:solidFill>
                <a:latin typeface="Nunito"/>
              </a:rPr>
              <a:t>Gerçekçi sınır durumlarını sentezleyerek değer fonksiyonuna güvenli marj öğretme.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201168"/>
            <a:ext cx="11789359" cy="6455664"/>
          </a:xfrm>
          <a:prstGeom prst="rect">
            <a:avLst/>
          </a:prstGeom>
          <a:noFill/>
          <a:ln w="12700">
            <a:solidFill>
              <a:srgbClr val="B9B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32520" y="347472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1">
                <a:solidFill>
                  <a:srgbClr val="E23D28"/>
                </a:solidFill>
                <a:latin typeface="Space Mono"/>
              </a:rP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23D28"/>
                </a:solidFill>
                <a:latin typeface="Space Mono"/>
              </a:rPr>
              <a:t>SON MESAJ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3400" b="1">
                <a:solidFill>
                  <a:srgbClr val="111316"/>
                </a:solidFill>
                <a:latin typeface="Archivo"/>
              </a:rPr>
              <a:t>DESTEK SINIRI GÖRÜNÜRSE SONUÇ DAHA DÜRÜST OLUR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1417320"/>
            <a:ext cx="4800600" cy="2377440"/>
          </a:xfrm>
          <a:prstGeom prst="rect">
            <a:avLst/>
          </a:prstGeom>
          <a:solidFill>
            <a:srgbClr val="E23D28"/>
          </a:solidFill>
          <a:ln w="12700">
            <a:solidFill>
              <a:srgbClr val="111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Nunito"/>
              </a:rPr>
              <a:t>Final okuma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677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Nunito"/>
              </a:rPr>
              <a:t>IQL iş akışı klinik üstünlük değil; sızıntısız, destek-duyarlı, retrospektif politika dışı değerlendirme kanıtı üretir.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