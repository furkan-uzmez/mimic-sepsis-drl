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1323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2646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3969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85292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56616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7939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0585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1908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4555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7201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41171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12494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85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371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057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743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3429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4114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800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5486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6172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858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235440" y="4617720"/>
            <a:ext cx="2560320" cy="2560320"/>
          </a:xfrm>
          <a:prstGeom prst="ellipse">
            <a:avLst/>
          </a:prstGeom>
          <a:solidFill>
            <a:srgbClr val="FF3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-457200" y="228600"/>
            <a:ext cx="2103120" cy="2103120"/>
          </a:xfrm>
          <a:prstGeom prst="ellipse">
            <a:avLst/>
          </a:prstGeom>
          <a:solidFill>
            <a:srgbClr val="3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02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F5FF"/>
                </a:solidFill>
                <a:latin typeface="Aptos"/>
              </a:rPr>
              <a:t>IEEE FINAL REPORT SUNUMU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05156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FBFF"/>
                </a:solidFill>
                <a:latin typeface="Aptos Display"/>
              </a:rPr>
              <a:t>Destek sınırlı sepsis dozaj politikaları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063240"/>
            <a:ext cx="4983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C6E9F2"/>
                </a:solidFill>
                <a:latin typeface="Aptos"/>
              </a:rPr>
              <a:t>IQL tabanlı, sızıntısız ve denetlenebilir bir çevrimdışı pekiştirmeli öğrenme iş akışı.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1051560"/>
            <a:ext cx="2011680" cy="105156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3F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5392" y="1188719"/>
            <a:ext cx="1682496" cy="473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8FBFF"/>
                </a:solidFill>
                <a:latin typeface="Aptos Display"/>
              </a:rPr>
              <a:t>72s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65392" y="1650949"/>
            <a:ext cx="1682496" cy="336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6B4C2"/>
                </a:solidFill>
                <a:latin typeface="Aptos"/>
              </a:rPr>
              <a:t>akut gözlem penceresi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41080" y="1051560"/>
            <a:ext cx="2011680" cy="105156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FF3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05672" y="1188719"/>
            <a:ext cx="1682496" cy="473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8FBFF"/>
                </a:solidFill>
                <a:latin typeface="Aptos Display"/>
              </a:rPr>
              <a:t>62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05672" y="1650949"/>
            <a:ext cx="1682496" cy="336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6B4C2"/>
                </a:solidFill>
                <a:latin typeface="Aptos"/>
              </a:rPr>
              <a:t>boyutlu durum vektörü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2423160"/>
            <a:ext cx="2011680" cy="105156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D9F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2560320"/>
            <a:ext cx="1682496" cy="473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8FBFF"/>
                </a:solidFill>
                <a:latin typeface="Aptos Display"/>
              </a:rPr>
              <a:t>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65392" y="3022549"/>
            <a:ext cx="1682496" cy="336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6B4C2"/>
                </a:solidFill>
                <a:latin typeface="Aptos"/>
              </a:rPr>
              <a:t>sıvı-vazopresör aksiyonu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41080" y="2423160"/>
            <a:ext cx="2011680" cy="105156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3F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05672" y="2560320"/>
            <a:ext cx="1682496" cy="473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8FBFF"/>
                </a:solidFill>
                <a:latin typeface="Aptos Display"/>
              </a:rPr>
              <a:t>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05672" y="3022549"/>
            <a:ext cx="1682496" cy="336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6B4C2"/>
                </a:solidFill>
                <a:latin typeface="Aptos"/>
              </a:rPr>
              <a:t>final eğitim koşusu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6172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F5FF"/>
                </a:solidFill>
                <a:latin typeface="Aptos"/>
              </a:rPr>
              <a:t>MIMIC-IV v3.1 / Offline RL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632764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96B4C2"/>
                </a:solidFill>
                <a:latin typeface="Aptos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1323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2646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3969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85292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56616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7939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0585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1908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4555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7201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41171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12494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85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371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057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743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3429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4114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800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5486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6172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858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235440" y="4617720"/>
            <a:ext cx="2560320" cy="2560320"/>
          </a:xfrm>
          <a:prstGeom prst="ellipse">
            <a:avLst/>
          </a:prstGeom>
          <a:solidFill>
            <a:srgbClr val="FF3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-457200" y="228600"/>
            <a:ext cx="2103120" cy="2103120"/>
          </a:xfrm>
          <a:prstGeom prst="ellipse">
            <a:avLst/>
          </a:prstGeom>
          <a:solidFill>
            <a:srgbClr val="3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02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F5FF"/>
                </a:solidFill>
                <a:latin typeface="Aptos"/>
              </a:rPr>
              <a:t>PROBLEM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9601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FBFF"/>
                </a:solidFill>
                <a:latin typeface="Aptos Display"/>
              </a:rPr>
              <a:t>Gözlemsel veride iyi görünen politika güvenli olmayabilir.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0175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96B4C2"/>
                </a:solidFill>
                <a:latin typeface="Aptos"/>
              </a:rPr>
              <a:t>Sepsiste agresif müdahale genellikle daha ağır hastalarda gözlenir; değer tahmini destek eksikliğiyle kolayca yanılır.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06440" y="960120"/>
            <a:ext cx="2423160" cy="141732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3F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71031" y="11155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FBFF"/>
                </a:solidFill>
                <a:latin typeface="Aptos Display"/>
              </a:rPr>
              <a:t>Ekstrapolasyon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71031" y="155448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6B4C2"/>
                </a:solidFill>
                <a:latin typeface="Aptos"/>
              </a:rPr>
              <a:t>Zayıf temsil edilen doz kombinasyonlarına yapay değer atanabilir.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49640" y="960120"/>
            <a:ext cx="2423160" cy="141732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FF3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14232" y="11155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FBFF"/>
                </a:solidFill>
                <a:latin typeface="Aptos Display"/>
              </a:rPr>
              <a:t>OPE varyansı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14232" y="155448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6B4C2"/>
                </a:solidFill>
                <a:latin typeface="Aptos"/>
              </a:rPr>
              <a:t>WIS birkaç yüksek ağırlıklı yörüngeye yaslanabilir.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06440" y="2788920"/>
            <a:ext cx="2423160" cy="141732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3F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71031" y="29443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FBFF"/>
                </a:solidFill>
                <a:latin typeface="Aptos Display"/>
              </a:rPr>
              <a:t>Sızıntı riski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71031" y="3383279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6B4C2"/>
                </a:solidFill>
                <a:latin typeface="Aptos"/>
              </a:rPr>
              <a:t>Ön işleme veya split hatası final metriği şişirir.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49640" y="2788920"/>
            <a:ext cx="2423160" cy="141732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FF3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14232" y="29443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FBFF"/>
                </a:solidFill>
                <a:latin typeface="Aptos Display"/>
              </a:rPr>
              <a:t>Klinik sınır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14232" y="3383279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6B4C2"/>
                </a:solidFill>
                <a:latin typeface="Aptos"/>
              </a:rPr>
              <a:t>Çalışma yatak başı öneri değil, retrospektif protokoldür.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61320" y="632764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96B4C2"/>
                </a:solidFill>
                <a:latin typeface="Aptos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1323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2646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3969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85292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56616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7939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0585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1908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4555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7201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41171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12494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85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371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057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743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3429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4114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800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5486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6172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858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235440" y="4617720"/>
            <a:ext cx="2560320" cy="2560320"/>
          </a:xfrm>
          <a:prstGeom prst="ellipse">
            <a:avLst/>
          </a:prstGeom>
          <a:solidFill>
            <a:srgbClr val="FF3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-457200" y="228600"/>
            <a:ext cx="2103120" cy="2103120"/>
          </a:xfrm>
          <a:prstGeom prst="ellipse">
            <a:avLst/>
          </a:prstGeom>
          <a:solidFill>
            <a:srgbClr val="3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02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F5FF"/>
                </a:solidFill>
                <a:latin typeface="Aptos"/>
              </a:rPr>
              <a:t>UÇTAN UCA MIMARI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8686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FBFF"/>
                </a:solidFill>
                <a:latin typeface="Aptos Display"/>
              </a:rPr>
              <a:t>Tek model değil, denetlenebilir deney hattı.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1965960"/>
            <a:ext cx="1965960" cy="114300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3F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" y="207568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FF5FF"/>
                </a:solidFill>
                <a:latin typeface="Aptos Display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" y="2468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E8FBFF"/>
                </a:solidFill>
                <a:latin typeface="Aptos"/>
              </a:rPr>
              <a:t>Sepsis-3 kohort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26080" y="1965960"/>
            <a:ext cx="1965960" cy="114300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3F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72384" y="207568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FF5FF"/>
                </a:solidFill>
                <a:latin typeface="Aptos Display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72384" y="2468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E8FBFF"/>
                </a:solidFill>
                <a:latin typeface="Aptos"/>
              </a:rPr>
              <a:t>72 saat / 4 saatlik karar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66360" y="1965960"/>
            <a:ext cx="1965960" cy="114300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3F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12664" y="207568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FF5FF"/>
                </a:solidFill>
                <a:latin typeface="Aptos Display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12664" y="2468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E8FBFF"/>
                </a:solidFill>
                <a:latin typeface="Aptos"/>
              </a:rPr>
              <a:t>Hasta düzeyinde split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06640" y="1965960"/>
            <a:ext cx="1965960" cy="114300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3F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207568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FF5FF"/>
                </a:solidFill>
                <a:latin typeface="Aptos Display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52944" y="2468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E8FBFF"/>
                </a:solidFill>
                <a:latin typeface="Aptos"/>
              </a:rPr>
              <a:t>62 özellikli durum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46920" y="1965960"/>
            <a:ext cx="1965960" cy="114300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3F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93224" y="207568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FF5FF"/>
                </a:solidFill>
                <a:latin typeface="Aptos Display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93224" y="2468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E8FBFF"/>
                </a:solidFill>
                <a:latin typeface="Aptos"/>
              </a:rPr>
              <a:t>25 aksiyon + ödül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3566160"/>
            <a:ext cx="1965960" cy="114300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FF3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" y="3675887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FF5FF"/>
                </a:solidFill>
                <a:latin typeface="Aptos Display"/>
              </a:rPr>
              <a:t>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" y="4069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E8FBFF"/>
                </a:solidFill>
                <a:latin typeface="Aptos"/>
              </a:rPr>
              <a:t>Replay + baseline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926080" y="3566160"/>
            <a:ext cx="1965960" cy="114300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FF3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72384" y="3675887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FF5FF"/>
                </a:solidFill>
                <a:latin typeface="Aptos Display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72384" y="4069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E8FBFF"/>
                </a:solidFill>
                <a:latin typeface="Aptos"/>
              </a:rPr>
              <a:t>IQL eğitimi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166360" y="3566160"/>
            <a:ext cx="1965960" cy="114300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FF3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12664" y="3675887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FF5FF"/>
                </a:solidFill>
                <a:latin typeface="Aptos Display"/>
              </a:rPr>
              <a:t>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12664" y="4069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E8FBFF"/>
                </a:solidFill>
                <a:latin typeface="Aptos"/>
              </a:rPr>
              <a:t>18 aday tarama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06640" y="3566160"/>
            <a:ext cx="1965960" cy="114300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FF3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52944" y="3675887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FF5FF"/>
                </a:solidFill>
                <a:latin typeface="Aptos Display"/>
              </a:rPr>
              <a:t>09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52944" y="4069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E8FBFF"/>
                </a:solidFill>
                <a:latin typeface="Aptos"/>
              </a:rPr>
              <a:t>OPE ve güvenlik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646920" y="3566160"/>
            <a:ext cx="1965960" cy="114300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FF3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93224" y="3675887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FF5FF"/>
                </a:solidFill>
                <a:latin typeface="Aptos Display"/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93224" y="4069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E8FBFF"/>
                </a:solidFill>
                <a:latin typeface="Aptos"/>
              </a:rPr>
              <a:t>Çoklu tohum final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61320" y="632764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96B4C2"/>
                </a:solidFill>
                <a:latin typeface="Aptos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1323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2646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3969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85292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56616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7939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0585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1908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4555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7201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41171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12494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85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371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057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743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3429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4114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800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5486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6172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858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235440" y="4617720"/>
            <a:ext cx="2560320" cy="2560320"/>
          </a:xfrm>
          <a:prstGeom prst="ellipse">
            <a:avLst/>
          </a:prstGeom>
          <a:solidFill>
            <a:srgbClr val="FF3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-457200" y="228600"/>
            <a:ext cx="2103120" cy="2103120"/>
          </a:xfrm>
          <a:prstGeom prst="ellipse">
            <a:avLst/>
          </a:prstGeom>
          <a:solidFill>
            <a:srgbClr val="3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02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F5FF"/>
                </a:solidFill>
                <a:latin typeface="Aptos"/>
              </a:rPr>
              <a:t>MDP FORMÜLASYONU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91440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E8FBFF"/>
                </a:solidFill>
                <a:latin typeface="Aptos Display"/>
              </a:rPr>
              <a:t>Karar birimi: 4 saatlik klinik pencere.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0" y="868680"/>
            <a:ext cx="5897880" cy="466344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3F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123444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8FBFF"/>
                </a:solidFill>
                <a:latin typeface="Aptos"/>
              </a:defRPr>
            </a:pPr>
            <a:r>
              <a:t>Durum: vital, laboratuvar, tedavi geçmişi, demografi ve missingness sinyalleri.</a:t>
            </a:r>
          </a:p>
          <a:p>
            <a:pPr>
              <a:spcAft>
                <a:spcPts val="800"/>
              </a:spcAft>
              <a:defRPr sz="1400">
                <a:solidFill>
                  <a:srgbClr val="E8FBFF"/>
                </a:solidFill>
                <a:latin typeface="Aptos"/>
              </a:defRPr>
            </a:pPr>
            <a:r>
              <a:t>Aksiyon: vazopresör ve IV sıvı binlerinin 5 x 5 ayrık kombinasyonu.</a:t>
            </a:r>
          </a:p>
          <a:p>
            <a:pPr>
              <a:spcAft>
                <a:spcPts val="800"/>
              </a:spcAft>
              <a:defRPr sz="1400">
                <a:solidFill>
                  <a:srgbClr val="E8FBFF"/>
                </a:solidFill>
                <a:latin typeface="Aptos"/>
              </a:defRPr>
            </a:pPr>
            <a:r>
              <a:t>Ödül: terminal sağkalım/ölüm faydası ve opsiyonel SOFA şekillendirmesi.</a:t>
            </a:r>
          </a:p>
          <a:p>
            <a:pPr>
              <a:spcAft>
                <a:spcPts val="800"/>
              </a:spcAft>
              <a:defRPr sz="1400">
                <a:solidFill>
                  <a:srgbClr val="E8FBFF"/>
                </a:solidFill>
                <a:latin typeface="Aptos"/>
              </a:defRPr>
            </a:pPr>
            <a:r>
              <a:t>İskonto: gamma = 0.99 ile uzun vadeli mortalite etkisi korunur.</a:t>
            </a:r>
          </a:p>
          <a:p>
            <a:pPr>
              <a:spcAft>
                <a:spcPts val="800"/>
              </a:spcAft>
              <a:defRPr sz="1400">
                <a:solidFill>
                  <a:srgbClr val="E8FBFF"/>
                </a:solidFill>
                <a:latin typeface="Aptos"/>
              </a:defRPr>
            </a:pPr>
            <a:r>
              <a:t>Sızıntı önlemi: binler ve ön işleme yalnız eğitim bölmesinde fit edilir.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61320" y="632764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96B4C2"/>
                </a:solidFill>
                <a:latin typeface="Aptos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1323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2646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3969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85292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56616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7939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0585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1908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4555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7201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41171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12494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85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371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057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743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3429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4114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800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5486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6172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858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235440" y="4617720"/>
            <a:ext cx="2560320" cy="2560320"/>
          </a:xfrm>
          <a:prstGeom prst="ellipse">
            <a:avLst/>
          </a:prstGeom>
          <a:solidFill>
            <a:srgbClr val="FF3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-457200" y="228600"/>
            <a:ext cx="2103120" cy="2103120"/>
          </a:xfrm>
          <a:prstGeom prst="ellipse">
            <a:avLst/>
          </a:prstGeom>
          <a:solidFill>
            <a:srgbClr val="3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02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F5FF"/>
                </a:solidFill>
                <a:latin typeface="Aptos"/>
              </a:rPr>
              <a:t>AŞAMA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960120"/>
            <a:ext cx="4206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E8FBFF"/>
                </a:solidFill>
                <a:latin typeface="Aptos Display"/>
              </a:rPr>
              <a:t>Değer tek başına seçici değil; destekle birlikte okunur.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788920"/>
            <a:ext cx="39776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6B4C2"/>
                </a:solidFill>
                <a:latin typeface="Aptos"/>
              </a:rPr>
              <a:t>SOFA-konservatif adaylar öne çıktı; final havuzu tek metriğe aşırı uyumu engellemek için çeşitlendirildi.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92040" y="749808"/>
            <a:ext cx="6629400" cy="525780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3F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qe_vs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960120"/>
            <a:ext cx="6263640" cy="44348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074920" y="5532120"/>
            <a:ext cx="6263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6B4C2"/>
                </a:solidFill>
                <a:latin typeface="Aptos"/>
              </a:rPr>
              <a:t>Yüksek FQE ancak yeterli davranış desteğiyle anlamlı kabul edilir.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632764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96B4C2"/>
                </a:solidFill>
                <a:latin typeface="Aptos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1323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2646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3969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85292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56616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7939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0585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1908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4555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7201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41171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12494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85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371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057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743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3429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4114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800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5486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6172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858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235440" y="4617720"/>
            <a:ext cx="2560320" cy="2560320"/>
          </a:xfrm>
          <a:prstGeom prst="ellipse">
            <a:avLst/>
          </a:prstGeom>
          <a:solidFill>
            <a:srgbClr val="FF3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-457200" y="228600"/>
            <a:ext cx="2103120" cy="2103120"/>
          </a:xfrm>
          <a:prstGeom prst="ellipse">
            <a:avLst/>
          </a:prstGeom>
          <a:solidFill>
            <a:srgbClr val="3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02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F5FF"/>
                </a:solidFill>
                <a:latin typeface="Aptos"/>
              </a:rPr>
              <a:t>IQL TARAMA TASARIMI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91440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FBFF"/>
                </a:solidFill>
                <a:latin typeface="Aptos Display"/>
              </a:rPr>
              <a:t>18 adaydan 6 finalist, sonra 3 tohumla tekrar ölçüm.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2788920"/>
            <a:ext cx="3246120" cy="210312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3F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" y="29992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FF5FF"/>
                </a:solidFill>
                <a:latin typeface="Aptos"/>
              </a:rPr>
              <a:t>ÖDÜL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" y="340156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FBFF"/>
                </a:solidFill>
                <a:latin typeface="Aptos Display"/>
              </a:rPr>
              <a:t>Sparse / SOFA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" y="416052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96B4C2"/>
                </a:solidFill>
                <a:latin typeface="Aptos"/>
              </a:rPr>
              <a:t>Terminal mortalite sinyali SOFA değişimiyle veya yalnız başına değerlendirilir.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2788920"/>
            <a:ext cx="3246120" cy="210312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FF3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73168" y="29992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3CAC"/>
                </a:solidFill>
                <a:latin typeface="Aptos"/>
              </a:rPr>
              <a:t>LR REJIMI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73168" y="340156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FBFF"/>
                </a:solidFill>
                <a:latin typeface="Aptos Display"/>
              </a:rPr>
              <a:t>Konservatif / referans / aktör-konservatif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73168" y="416052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96B4C2"/>
                </a:solidFill>
                <a:latin typeface="Aptos"/>
              </a:rPr>
              <a:t>Eleştirmen ve aktör agresifliği destek sınırları açısından ayrıştırılır.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2788920"/>
            <a:ext cx="3246120" cy="210312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D9F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22208" y="29992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FF58"/>
                </a:solidFill>
                <a:latin typeface="Aptos"/>
              </a:rPr>
              <a:t>IQL AYARI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22208" y="340156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FBFF"/>
                </a:solidFill>
                <a:latin typeface="Aptos Display"/>
              </a:rPr>
              <a:t>Güvenli / referans / iyimser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22208" y="416052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96B4C2"/>
                </a:solidFill>
                <a:latin typeface="Aptos"/>
              </a:rPr>
              <a:t>Ekspektil ve sıcaklık politika çıkarımının risk profilini kontrol eder.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61320" y="632764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96B4C2"/>
                </a:solidFill>
                <a:latin typeface="Aptos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1323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2646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3969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85292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56616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7939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0585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1908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4555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7201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41171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12494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85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371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057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743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3429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4114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800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5486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6172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858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235440" y="4617720"/>
            <a:ext cx="2560320" cy="2560320"/>
          </a:xfrm>
          <a:prstGeom prst="ellipse">
            <a:avLst/>
          </a:prstGeom>
          <a:solidFill>
            <a:srgbClr val="FF3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-457200" y="228600"/>
            <a:ext cx="2103120" cy="2103120"/>
          </a:xfrm>
          <a:prstGeom prst="ellipse">
            <a:avLst/>
          </a:prstGeom>
          <a:solidFill>
            <a:srgbClr val="3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02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F5FF"/>
                </a:solidFill>
                <a:latin typeface="Aptos"/>
              </a:rPr>
              <a:t>AŞAMA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960120"/>
            <a:ext cx="4206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E8FBFF"/>
                </a:solidFill>
                <a:latin typeface="Aptos Display"/>
              </a:rPr>
              <a:t>Final seçim Pareto ödünleşiminden gelir.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788920"/>
            <a:ext cx="39776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6B4C2"/>
                </a:solidFill>
                <a:latin typeface="Aptos"/>
              </a:rPr>
              <a:t>Seçili yapı: iql_sofa_shaped_conservative_safe. Karar FQE/WIS değerlerini ESS, destek ve klinisyen uyumuyla birlikte tartar.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92040" y="749808"/>
            <a:ext cx="6629400" cy="525780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3F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pareto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960120"/>
            <a:ext cx="6263640" cy="44348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074920" y="5532120"/>
            <a:ext cx="6263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6B4C2"/>
                </a:solidFill>
                <a:latin typeface="Aptos"/>
              </a:rPr>
              <a:t>Değer, destek ve güvenlik eksenleri birlikte final kararı belirler.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632764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96B4C2"/>
                </a:solidFill>
                <a:latin typeface="Aptos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1323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2646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3969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85292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56616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7939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0585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1908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4555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7201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41171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12494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85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371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057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743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3429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4114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800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5486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6172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858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235440" y="4617720"/>
            <a:ext cx="2560320" cy="2560320"/>
          </a:xfrm>
          <a:prstGeom prst="ellipse">
            <a:avLst/>
          </a:prstGeom>
          <a:solidFill>
            <a:srgbClr val="FF3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-457200" y="228600"/>
            <a:ext cx="2103120" cy="2103120"/>
          </a:xfrm>
          <a:prstGeom prst="ellipse">
            <a:avLst/>
          </a:prstGeom>
          <a:solidFill>
            <a:srgbClr val="3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02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F5FF"/>
                </a:solidFill>
                <a:latin typeface="Aptos"/>
              </a:rPr>
              <a:t>FINAL TEST SONUÇLARI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91440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FBFF"/>
                </a:solidFill>
                <a:latin typeface="Aptos Display"/>
              </a:rPr>
              <a:t>Metodolojik kanıt güçlü; klinik üstünlük iddiası yok.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7432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6B4C2"/>
                </a:solidFill>
                <a:latin typeface="Aptos"/>
              </a:rPr>
              <a:t>ESS 50 eşiğinin altında olduğu için sonuçlar prospektif performans kanıtı olarak değil, destek sınırları tanımlı OPE kanıtı olarak yorumlanır.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23560" y="822960"/>
            <a:ext cx="2331720" cy="1024128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3F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88152" y="960120"/>
            <a:ext cx="2002536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8FBFF"/>
                </a:solidFill>
                <a:latin typeface="Aptos Display"/>
              </a:rPr>
              <a:t>2.848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88152" y="1406712"/>
            <a:ext cx="2002536" cy="32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6B4C2"/>
                </a:solidFill>
                <a:latin typeface="Aptos"/>
              </a:rPr>
              <a:t>FQE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75320" y="822960"/>
            <a:ext cx="2331720" cy="1024128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FF3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39912" y="960120"/>
            <a:ext cx="2002536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8FBFF"/>
                </a:solidFill>
                <a:latin typeface="Aptos Display"/>
              </a:rPr>
              <a:t>8.203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9912" y="1406712"/>
            <a:ext cx="2002536" cy="32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6B4C2"/>
                </a:solidFill>
                <a:latin typeface="Aptos"/>
              </a:rPr>
              <a:t>WIS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23560" y="2240280"/>
            <a:ext cx="2331720" cy="1024128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D9F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88152" y="2377440"/>
            <a:ext cx="2002536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8FBFF"/>
                </a:solidFill>
                <a:latin typeface="Aptos Display"/>
              </a:rPr>
              <a:t>29.41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88152" y="2824032"/>
            <a:ext cx="2002536" cy="32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6B4C2"/>
                </a:solidFill>
                <a:latin typeface="Aptos"/>
              </a:rPr>
              <a:t>ESS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75320" y="2240280"/>
            <a:ext cx="2331720" cy="1024128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3F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9912" y="2377440"/>
            <a:ext cx="2002536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8FBFF"/>
                </a:solidFill>
                <a:latin typeface="Aptos Display"/>
              </a:rPr>
              <a:t>0.991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9912" y="2824032"/>
            <a:ext cx="2002536" cy="32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6B4C2"/>
                </a:solidFill>
                <a:latin typeface="Aptos"/>
              </a:rPr>
              <a:t>davranışsal destek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23560" y="3657600"/>
            <a:ext cx="2331720" cy="1024128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FF3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88152" y="3794760"/>
            <a:ext cx="2002536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8FBFF"/>
                </a:solidFill>
                <a:latin typeface="Aptos Display"/>
              </a:rPr>
              <a:t>0.414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88152" y="4241352"/>
            <a:ext cx="2002536" cy="32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6B4C2"/>
                </a:solidFill>
                <a:latin typeface="Aptos"/>
              </a:rPr>
              <a:t>klinisyen tam-kutu uyumu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75320" y="3657600"/>
            <a:ext cx="2331720" cy="1024128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D9F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39912" y="3794760"/>
            <a:ext cx="2002536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8FBFF"/>
                </a:solidFill>
                <a:latin typeface="Aptos Display"/>
              </a:rPr>
              <a:t>4.963-10.817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39912" y="4241352"/>
            <a:ext cx="2002536" cy="32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6B4C2"/>
                </a:solidFill>
                <a:latin typeface="Aptos"/>
              </a:rPr>
              <a:t>WIS %95 CI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61320" y="632764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96B4C2"/>
                </a:solidFill>
                <a:latin typeface="Aptos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1323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2646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3969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85292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56616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7939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0585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1908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4555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7201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41171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12494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85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371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057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743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3429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4114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800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5486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6172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858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235440" y="4617720"/>
            <a:ext cx="2560320" cy="2560320"/>
          </a:xfrm>
          <a:prstGeom prst="ellipse">
            <a:avLst/>
          </a:prstGeom>
          <a:solidFill>
            <a:srgbClr val="FF3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-457200" y="228600"/>
            <a:ext cx="2103120" cy="2103120"/>
          </a:xfrm>
          <a:prstGeom prst="ellipse">
            <a:avLst/>
          </a:prstGeom>
          <a:solidFill>
            <a:srgbClr val="3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02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F5FF"/>
                </a:solidFill>
                <a:latin typeface="Aptos"/>
              </a:rPr>
              <a:t>BASELINE KARŞILAŞTIRMASI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960120"/>
            <a:ext cx="4206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E8FBFF"/>
                </a:solidFill>
                <a:latin typeface="Aptos Display"/>
              </a:rPr>
              <a:t>Yüksek WIS, düşük ESS ile güvenilir değildir.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788920"/>
            <a:ext cx="39776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6B4C2"/>
                </a:solidFill>
                <a:latin typeface="Aptos"/>
              </a:rPr>
              <a:t>Davranış klonlama WIS açısından yüksek görünür, fakat ESS=1.6 düzeyi nedeniyle istatistiksel olarak kırılgandır.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92040" y="749808"/>
            <a:ext cx="6629400" cy="525780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3F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baselin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960120"/>
            <a:ext cx="6263640" cy="44348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074920" y="5532120"/>
            <a:ext cx="6263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6B4C2"/>
                </a:solidFill>
                <a:latin typeface="Aptos"/>
              </a:rPr>
              <a:t>Klinisyen replay, no-treatment, davranış klonlama ve seçili IQL birlikte okunur.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632764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96B4C2"/>
                </a:solidFill>
                <a:latin typeface="Aptos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1323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2646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3969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85292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56616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7939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0585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1908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4555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7201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41171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12494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85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371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057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743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3429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4114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800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5486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6172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858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235440" y="4617720"/>
            <a:ext cx="2560320" cy="2560320"/>
          </a:xfrm>
          <a:prstGeom prst="ellipse">
            <a:avLst/>
          </a:prstGeom>
          <a:solidFill>
            <a:srgbClr val="FF3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-457200" y="228600"/>
            <a:ext cx="2103120" cy="2103120"/>
          </a:xfrm>
          <a:prstGeom prst="ellipse">
            <a:avLst/>
          </a:prstGeom>
          <a:solidFill>
            <a:srgbClr val="3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02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F5FF"/>
                </a:solidFill>
                <a:latin typeface="Aptos"/>
              </a:rPr>
              <a:t>AKSIYON GÜVENLIĞI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960120"/>
            <a:ext cx="4206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E8FBFF"/>
                </a:solidFill>
                <a:latin typeface="Aptos Display"/>
              </a:rPr>
              <a:t>Politika hekimden sapıyor, fakat veri desteği içinde kalıyor.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788920"/>
            <a:ext cx="39776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6B4C2"/>
                </a:solidFill>
                <a:latin typeface="Aptos"/>
              </a:rPr>
              <a:t>Desteklenmeyen aksiyon sapması 0.009 düzeyinde; farklı kararlar çoğunlukla gözlenmiş makul komşu kutularda kalır.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92040" y="749808"/>
            <a:ext cx="6629400" cy="525780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3F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ac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960120"/>
            <a:ext cx="6263640" cy="44348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074920" y="5532120"/>
            <a:ext cx="6263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6B4C2"/>
                </a:solidFill>
                <a:latin typeface="Aptos"/>
              </a:rPr>
              <a:t>5 x 5 tedavi gridi sıvı ve vazopresör şiddetini birlikte kodlar.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632764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96B4C2"/>
                </a:solidFill>
                <a:latin typeface="Aptos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1323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2646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3969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85292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56616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7939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0585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1908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4555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7201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41171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12494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85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371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057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743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3429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4114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800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5486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6172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858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235440" y="4617720"/>
            <a:ext cx="2560320" cy="2560320"/>
          </a:xfrm>
          <a:prstGeom prst="ellipse">
            <a:avLst/>
          </a:prstGeom>
          <a:solidFill>
            <a:srgbClr val="FF3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-457200" y="228600"/>
            <a:ext cx="2103120" cy="2103120"/>
          </a:xfrm>
          <a:prstGeom prst="ellipse">
            <a:avLst/>
          </a:prstGeom>
          <a:solidFill>
            <a:srgbClr val="3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02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F5FF"/>
                </a:solidFill>
                <a:latin typeface="Aptos"/>
              </a:rPr>
              <a:t>SINIRLAR VE ETIK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9144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FBFF"/>
                </a:solidFill>
                <a:latin typeface="Aptos Display"/>
              </a:rPr>
              <a:t>Retrospektif model, klinik karar destek sistemi değildir.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77840" y="868680"/>
            <a:ext cx="5669280" cy="448056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FF3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97880" y="1325880"/>
            <a:ext cx="4983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8FBFF"/>
                </a:solidFill>
                <a:latin typeface="Aptos"/>
              </a:defRPr>
            </a:pPr>
            <a:r>
              <a:t>Durum vektörü hekim niyetini, kontrendikasyonları ve tüm yatak başı gözlemleri kapsamaz.</a:t>
            </a:r>
          </a:p>
          <a:p>
            <a:pPr>
              <a:spcAft>
                <a:spcPts val="800"/>
              </a:spcAft>
              <a:defRPr sz="1400">
                <a:solidFill>
                  <a:srgbClr val="E8FBFF"/>
                </a:solidFill>
                <a:latin typeface="Aptos"/>
              </a:defRPr>
            </a:pPr>
            <a:r>
              <a:t>MIMIC-IV kullanımı credentialing, CITI eğitimi ve veri kullanım sözleşmesi yükümlülüklerine tabidir.</a:t>
            </a:r>
          </a:p>
          <a:p>
            <a:pPr>
              <a:spcAft>
                <a:spcPts val="800"/>
              </a:spcAft>
              <a:defRPr sz="1400">
                <a:solidFill>
                  <a:srgbClr val="E8FBFF"/>
                </a:solidFill>
                <a:latin typeface="Aptos"/>
              </a:defRPr>
            </a:pPr>
            <a:r>
              <a:t>FQE/WIS prospektif klinik kanıt değil; model ve davranış politikası varsayımlarına bağlıdır.</a:t>
            </a:r>
          </a:p>
          <a:p>
            <a:pPr>
              <a:spcAft>
                <a:spcPts val="800"/>
              </a:spcAft>
              <a:defRPr sz="1400">
                <a:solidFill>
                  <a:srgbClr val="E8FBFF"/>
                </a:solidFill>
                <a:latin typeface="Aptos"/>
              </a:defRPr>
            </a:pPr>
            <a:r>
              <a:t>Düşük ESS, bootstrap aralığı ve gözlemsel confounding temkinli raporlama gerektirir.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61320" y="632764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96B4C2"/>
                </a:solidFill>
                <a:latin typeface="Aptos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1323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2646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3969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85292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56616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7939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0585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1908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4555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7201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41171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12494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85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371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057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743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3429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4114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800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5486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6172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858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235440" y="4617720"/>
            <a:ext cx="2560320" cy="2560320"/>
          </a:xfrm>
          <a:prstGeom prst="ellipse">
            <a:avLst/>
          </a:prstGeom>
          <a:solidFill>
            <a:srgbClr val="FF3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-457200" y="228600"/>
            <a:ext cx="2103120" cy="2103120"/>
          </a:xfrm>
          <a:prstGeom prst="ellipse">
            <a:avLst/>
          </a:prstGeom>
          <a:solidFill>
            <a:srgbClr val="3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02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F5FF"/>
                </a:solidFill>
                <a:latin typeface="Aptos"/>
              </a:rPr>
              <a:t>GELECEK YÖNLER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8686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E8FBFF"/>
                </a:solidFill>
                <a:latin typeface="Aptos Display"/>
              </a:rPr>
              <a:t>Sonraki adım daha büyük grid değil, belirsizlik duyarlı öğrenme.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15000" y="914400"/>
            <a:ext cx="2423160" cy="1444752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3F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79592" y="107899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E8FBFF"/>
                </a:solidFill>
                <a:latin typeface="Aptos Display"/>
              </a:rPr>
              <a:t>Dinamik ekspektil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79592" y="1536192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6B4C2"/>
                </a:solidFill>
                <a:latin typeface="Aptos"/>
              </a:rPr>
              <a:t>Yoğun destek bölgelerinde agresif, seyrek bölgelerde davranışa yakın politika çıkarımı.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58200" y="914400"/>
            <a:ext cx="2423160" cy="1444752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D9F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22792" y="107899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E8FBFF"/>
                </a:solidFill>
                <a:latin typeface="Aptos Display"/>
              </a:rPr>
              <a:t>Multi-step izler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22792" y="1536192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6B4C2"/>
                </a:solidFill>
                <a:latin typeface="Aptos"/>
              </a:rPr>
              <a:t>Seyrek terminal mortalite sinyalini daha hızlı ve destek-duyarlı yayma.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15000" y="2788920"/>
            <a:ext cx="2423160" cy="1444752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3F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79592" y="295351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E8FBFF"/>
                </a:solidFill>
                <a:latin typeface="Aptos Display"/>
              </a:rPr>
              <a:t>Manifold düzenleme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79592" y="3410712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6B4C2"/>
                </a:solidFill>
                <a:latin typeface="Aptos"/>
              </a:rPr>
              <a:t>Gerçekçi sınır durumlarıyla değer fonksiyonuna güvenli marjlar öğretme.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58200" y="2788920"/>
            <a:ext cx="2423160" cy="1444752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D9F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22792" y="295351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E8FBFF"/>
                </a:solidFill>
                <a:latin typeface="Aptos Display"/>
              </a:rPr>
              <a:t>Risk modelleri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22792" y="3410712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6B4C2"/>
                </a:solidFill>
                <a:latin typeface="Aptos"/>
              </a:rPr>
              <a:t>Quantile tabanlı belirsizlikle yüksek riskli outlier etkisini sınırlama.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61320" y="632764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96B4C2"/>
                </a:solidFill>
                <a:latin typeface="Aptos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1323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2646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3969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85292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56616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7939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0585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1908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4555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72016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411712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124944" y="0"/>
            <a:ext cx="0" cy="685800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85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371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057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743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3429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41148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8006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54864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61722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858000"/>
            <a:ext cx="12191999" cy="0"/>
          </a:xfrm>
          <a:prstGeom prst="line">
            <a:avLst/>
          </a:prstGeom>
          <a:ln w="4445">
            <a:solidFill>
              <a:srgbClr val="12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235440" y="4617720"/>
            <a:ext cx="2560320" cy="2560320"/>
          </a:xfrm>
          <a:prstGeom prst="ellipse">
            <a:avLst/>
          </a:prstGeom>
          <a:solidFill>
            <a:srgbClr val="FF3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-457200" y="228600"/>
            <a:ext cx="2103120" cy="2103120"/>
          </a:xfrm>
          <a:prstGeom prst="ellipse">
            <a:avLst/>
          </a:prstGeom>
          <a:solidFill>
            <a:srgbClr val="3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02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F5FF"/>
                </a:solidFill>
                <a:latin typeface="Aptos"/>
              </a:rPr>
              <a:t>SONUÇ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8686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E8FBFF"/>
                </a:solidFill>
                <a:latin typeface="Aptos Display"/>
              </a:rPr>
              <a:t>IQL hattı güvenli sınırları görünür kılan bir değerlendirme protokolü sunar.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83464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6B4C2"/>
                </a:solidFill>
                <a:latin typeface="Aptos"/>
              </a:rPr>
              <a:t>Kohorttan rapora kadar aynı protokolde izlenen süreç, sepsis dozaj politikalarını denetlenebilir ve tekrar üretilebilir biçimde karşılaştırmayı sağlar.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1005840"/>
            <a:ext cx="4892040" cy="3931920"/>
          </a:xfrm>
          <a:prstGeom prst="roundRect">
            <a:avLst/>
          </a:prstGeom>
          <a:solidFill>
            <a:srgbClr val="0A1F34"/>
          </a:solidFill>
          <a:ln w="12700">
            <a:solidFill>
              <a:srgbClr val="3F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1508760"/>
            <a:ext cx="4251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8FBFF"/>
                </a:solidFill>
                <a:latin typeface="Aptos"/>
              </a:defRPr>
            </a:pPr>
            <a:r>
              <a:t>Aşama 0 denetimi sızıntı ve sözleşme kontrollerini geçti.</a:t>
            </a:r>
          </a:p>
          <a:p>
            <a:pPr>
              <a:spcAft>
                <a:spcPts val="800"/>
              </a:spcAft>
              <a:defRPr sz="1400">
                <a:solidFill>
                  <a:srgbClr val="E8FBFF"/>
                </a:solidFill>
                <a:latin typeface="Aptos"/>
              </a:defRPr>
            </a:pPr>
            <a:r>
              <a:t>Aşama 1 destek-duyarlı 6 finalist üretti.</a:t>
            </a:r>
          </a:p>
          <a:p>
            <a:pPr>
              <a:spcAft>
                <a:spcPts val="800"/>
              </a:spcAft>
              <a:defRPr sz="1400">
                <a:solidFill>
                  <a:srgbClr val="E8FBFF"/>
                </a:solidFill>
                <a:latin typeface="Aptos"/>
              </a:defRPr>
            </a:pPr>
            <a:r>
              <a:t>Aşama 2 final konfigürasyonu çoklu tohumla doğruladı.</a:t>
            </a:r>
          </a:p>
          <a:p>
            <a:pPr>
              <a:spcAft>
                <a:spcPts val="800"/>
              </a:spcAft>
              <a:defRPr sz="1400">
                <a:solidFill>
                  <a:srgbClr val="E8FBFF"/>
                </a:solidFill>
                <a:latin typeface="Aptos"/>
              </a:defRPr>
            </a:pPr>
            <a:r>
              <a:t>Nihai yorum: retrospektif OPE kanıtı, klinik üstünlük kanıtı değil.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1320" y="632764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96B4C2"/>
                </a:solidFill>
                <a:latin typeface="Aptos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